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6" r:id="rId1"/>
  </p:sldMasterIdLst>
  <p:notesMasterIdLst>
    <p:notesMasterId r:id="rId22"/>
  </p:notesMasterIdLst>
  <p:sldIdLst>
    <p:sldId id="278"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374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045230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‹Nº›</a:t>
            </a:fld>
            <a:endParaRPr lang="en-US" dirty="0"/>
          </a:p>
        </p:txBody>
      </p:sp>
    </p:spTree>
    <p:extLst>
      <p:ext uri="{BB962C8B-B14F-4D97-AF65-F5344CB8AC3E}">
        <p14:creationId xmlns:p14="http://schemas.microsoft.com/office/powerpoint/2010/main" val="34965893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6543096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‹Nº›</a:t>
            </a:fld>
            <a:endParaRPr lang="en-US" dirty="0"/>
          </a:p>
        </p:txBody>
      </p:sp>
    </p:spTree>
    <p:extLst>
      <p:ext uri="{BB962C8B-B14F-4D97-AF65-F5344CB8AC3E}">
        <p14:creationId xmlns:p14="http://schemas.microsoft.com/office/powerpoint/2010/main" val="6620331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7220142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9032394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2790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367488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899517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7023052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400391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5314233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616477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695396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2725164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56415843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6918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457576012"/>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lang="es-ES" sz="1500" b="0" dirty="0">
                <a:solidFill>
                  <a:srgbClr val="181818"/>
                </a:solidFill>
                <a:latin typeface="Arial"/>
              </a:rPr>
              <a:t>Lenguajes y </a:t>
            </a:r>
            <a:r>
              <a:rPr lang="es-ES" sz="1500" b="0" dirty="0" err="1">
                <a:solidFill>
                  <a:srgbClr val="181818"/>
                </a:solidFill>
                <a:latin typeface="Arial"/>
              </a:rPr>
              <a:t>Automatas</a:t>
            </a:r>
            <a:r>
              <a:rPr lang="es-ES" sz="1500" b="0" dirty="0">
                <a:solidFill>
                  <a:srgbClr val="181818"/>
                </a:solidFill>
                <a:latin typeface="Arial"/>
              </a:rPr>
              <a:t> II</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a:t>
            </a:r>
            <a:r>
              <a:rPr lang="es-MX" sz="1500" b="0" dirty="0">
                <a:solidFill>
                  <a:srgbClr val="181818"/>
                </a:solidFill>
                <a:latin typeface="Arial"/>
              </a:rPr>
              <a:t>2</a:t>
            </a:r>
            <a:r>
              <a:rPr lang="es-MX" sz="1500" dirty="0">
                <a:solidFill>
                  <a:srgbClr val="181818"/>
                </a:solidFill>
                <a:latin typeface="Arial"/>
              </a:rPr>
              <a:t>.2</a:t>
            </a:r>
            <a:r>
              <a:rPr sz="1500" b="0" dirty="0">
                <a:solidFill>
                  <a:srgbClr val="181818"/>
                </a:solidFill>
                <a:latin typeface="Arial"/>
              </a:rPr>
              <a:t> </a:t>
            </a:r>
            <a:r>
              <a:rPr sz="1500" b="0" dirty="0" err="1">
                <a:solidFill>
                  <a:srgbClr val="181818"/>
                </a:solidFill>
                <a:latin typeface="Arial"/>
              </a:rPr>
              <a:t>Reporte</a:t>
            </a:r>
            <a:r>
              <a:rPr sz="1500" b="0" dirty="0">
                <a:solidFill>
                  <a:srgbClr val="181818"/>
                </a:solidFill>
                <a:latin typeface="Arial"/>
              </a:rPr>
              <a:t> de </a:t>
            </a:r>
            <a:r>
              <a:rPr sz="1500" b="0" dirty="0" err="1">
                <a:solidFill>
                  <a:srgbClr val="181818"/>
                </a:solidFill>
                <a:latin typeface="Arial"/>
              </a:rPr>
              <a:t>práctica</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a:solidFill>
                  <a:srgbClr val="181818"/>
                </a:solidFill>
                <a:latin typeface="Arial"/>
              </a:rPr>
              <a:t> 03 </a:t>
            </a:r>
            <a:r>
              <a:rPr lang="es-MX" sz="1500" dirty="0">
                <a:solidFill>
                  <a:srgbClr val="181818"/>
                </a:solidFill>
                <a:latin typeface="Arial"/>
              </a:rPr>
              <a:t>de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502920"/>
          </a:xfrm>
          <a:prstGeom prst="rect">
            <a:avLst/>
          </a:prstGeom>
          <a:noFill/>
          <a:ln/>
        </p:spPr>
        <p:txBody>
          <a:bodyPr wrap="square" lIns="0" tIns="0" rIns="0" bIns="0" rtlCol="0" anchor="ctr">
            <a:normAutofit/>
          </a:bodyPr>
          <a:lstStyle/>
          <a:p>
            <a:pPr marL="0" indent="0" algn="l">
              <a:buNone/>
            </a:pPr>
            <a:r>
              <a:rPr lang="en-US" sz="3000" b="1" dirty="0">
                <a:solidFill>
                  <a:srgbClr val="1F1F1F"/>
                </a:solidFill>
                <a:latin typeface="Arial" pitchFamily="34" charset="0"/>
                <a:ea typeface="Arial" pitchFamily="34" charset="-122"/>
                <a:cs typeface="Arial" pitchFamily="34" charset="-120"/>
              </a:rPr>
              <a:t>Introducción</a:t>
            </a:r>
            <a:endParaRPr lang="en-US" sz="3000" dirty="0"/>
          </a:p>
        </p:txBody>
      </p:sp>
      <p:sp>
        <p:nvSpPr>
          <p:cNvPr id="3" name="Text 1"/>
          <p:cNvSpPr/>
          <p:nvPr/>
        </p:nvSpPr>
        <p:spPr>
          <a:xfrm>
            <a:off x="777240" y="1600200"/>
            <a:ext cx="10698480" cy="4160520"/>
          </a:xfrm>
          <a:prstGeom prst="rect">
            <a:avLst/>
          </a:prstGeom>
          <a:noFill/>
          <a:ln/>
        </p:spPr>
        <p:txBody>
          <a:bodyPr wrap="square" lIns="0" tIns="0" rIns="0" bIns="0" rtlCol="0" anchor="ctr">
            <a:normAutofit/>
          </a:bodyPr>
          <a:lstStyle/>
          <a:p>
            <a:pPr marL="0" indent="0" algn="l">
              <a:buNone/>
            </a:pPr>
            <a:r>
              <a:rPr lang="en-US" sz="2300" dirty="0">
                <a:solidFill>
                  <a:srgbClr val="1F1F1F"/>
                </a:solidFill>
                <a:latin typeface="Arial" pitchFamily="34" charset="0"/>
                <a:ea typeface="Arial" pitchFamily="34" charset="-122"/>
                <a:cs typeface="Arial" pitchFamily="34" charset="-120"/>
              </a:rPr>
              <a:t>En esta práctica se elaboró un programa en Java para generar código intermedio a partir de expresiones y asignaciones. El trabajo se realizó en IntelliJ IDEA, utilizando estructuras de datos como listas, pilas y mapas para procesar los tokens de una expresión. El programa permite observar cómo una instrucción escrita en forma normal puede transformarse en notación prefija, postfija, Código P, triplos y cuádruplos.</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502920"/>
          </a:xfrm>
          <a:prstGeom prst="rect">
            <a:avLst/>
          </a:prstGeom>
          <a:noFill/>
          <a:ln/>
        </p:spPr>
        <p:txBody>
          <a:bodyPr wrap="square" lIns="0" tIns="0" rIns="0" bIns="0" rtlCol="0" anchor="ctr">
            <a:normAutofit/>
          </a:bodyPr>
          <a:lstStyle/>
          <a:p>
            <a:pPr marL="0" indent="0" algn="l">
              <a:buNone/>
            </a:pPr>
            <a:r>
              <a:rPr lang="en-US" sz="3000" b="1" dirty="0">
                <a:solidFill>
                  <a:srgbClr val="1F1F1F"/>
                </a:solidFill>
                <a:latin typeface="Arial" pitchFamily="34" charset="0"/>
                <a:ea typeface="Arial" pitchFamily="34" charset="-122"/>
                <a:cs typeface="Arial" pitchFamily="34" charset="-120"/>
              </a:rPr>
              <a:t>Justificación</a:t>
            </a:r>
            <a:endParaRPr lang="en-US" sz="3000" dirty="0"/>
          </a:p>
        </p:txBody>
      </p:sp>
      <p:sp>
        <p:nvSpPr>
          <p:cNvPr id="3" name="Text 1"/>
          <p:cNvSpPr/>
          <p:nvPr/>
        </p:nvSpPr>
        <p:spPr>
          <a:xfrm>
            <a:off x="777240" y="1600200"/>
            <a:ext cx="10698480" cy="4160520"/>
          </a:xfrm>
          <a:prstGeom prst="rect">
            <a:avLst/>
          </a:prstGeom>
          <a:noFill/>
          <a:ln/>
        </p:spPr>
        <p:txBody>
          <a:bodyPr wrap="square" lIns="0" tIns="0" rIns="0" bIns="0" rtlCol="0" anchor="ctr">
            <a:normAutofit/>
          </a:bodyPr>
          <a:lstStyle/>
          <a:p>
            <a:pPr marL="0" indent="0" algn="l">
              <a:buNone/>
            </a:pPr>
            <a:r>
              <a:rPr lang="en-US" sz="2300" dirty="0">
                <a:solidFill>
                  <a:srgbClr val="1F1F1F"/>
                </a:solidFill>
                <a:latin typeface="Arial" pitchFamily="34" charset="0"/>
                <a:ea typeface="Arial" pitchFamily="34" charset="-122"/>
                <a:cs typeface="Arial" pitchFamily="34" charset="-120"/>
              </a:rPr>
              <a:t>La generación de código intermedio es importante porque permite representar las instrucciones de un programa de una forma más ordenada y fácil de analizar antes de llegar al código final. Con esta práctica se buscó comprender el proceso de conversión de expresiones y la forma en que un compilador puede dividir una operación en pasos más simples. También se reforzó el uso de Java para construir una herramienta que muestra el resultado de cada etapa del análisis.</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Inicio del programa en IntelliJ IDEA</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creó el archivo AnalizadorCodigoIntermedio.java dentro del proyecto de IntelliJ. En esta primera parte se declararon las clases internas para trabajar con cuádruplos, triplos y resultados de expresión.</a:t>
            </a:r>
            <a:endParaRPr lang="en-US" sz="1750" dirty="0"/>
          </a:p>
        </p:txBody>
      </p:sp>
      <p:pic>
        <p:nvPicPr>
          <p:cNvPr id="4" name="Image 0" descr="/mnt/data/d07432b1-10f1-4eea-98a3-308f079c2e6c.png"/>
          <p:cNvPicPr>
            <a:picLocks noChangeAspect="1"/>
          </p:cNvPicPr>
          <p:nvPr/>
        </p:nvPicPr>
        <p:blipFill>
          <a:blip r:embed="rId3"/>
          <a:stretch>
            <a:fillRect/>
          </a:stretch>
        </p:blipFill>
        <p:spPr>
          <a:xfrm>
            <a:off x="2039664" y="1874520"/>
            <a:ext cx="812791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Definición del menú principal</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configuró el menú del programa para que el usuario pudiera seleccionar entre analizar expresiones, asignaciones, estructuras de control, funciones y estructuras.</a:t>
            </a:r>
            <a:endParaRPr lang="en-US" sz="1750" dirty="0"/>
          </a:p>
        </p:txBody>
      </p:sp>
      <p:pic>
        <p:nvPicPr>
          <p:cNvPr id="4" name="Image 0" descr="/mnt/data/2eb71226-f91b-4652-a780-85328670fd78.png"/>
          <p:cNvPicPr>
            <a:picLocks noChangeAspect="1"/>
          </p:cNvPicPr>
          <p:nvPr/>
        </p:nvPicPr>
        <p:blipFill>
          <a:blip r:embed="rId3"/>
          <a:stretch>
            <a:fillRect/>
          </a:stretch>
        </p:blipFill>
        <p:spPr>
          <a:xfrm>
            <a:off x="2039664" y="1874520"/>
            <a:ext cx="812791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Control de opciones del programa</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agregó una estructura switch para ejecutar una acción diferente según la opción elegida por el usuario. También se incluyó una validación para evitar entradas incorrectas.</a:t>
            </a:r>
            <a:endParaRPr lang="en-US" sz="1750" dirty="0"/>
          </a:p>
        </p:txBody>
      </p:sp>
      <p:pic>
        <p:nvPicPr>
          <p:cNvPr id="4" name="Image 0" descr="/mnt/data/f2d8e0c8-58eb-4072-8e61-a45da2a33ba4.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Análisis de expresiones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creó el método encargado de recibir una expresión infija, analizarla y después mandar a imprimir sus representaciones intermedias.</a:t>
            </a:r>
            <a:endParaRPr lang="en-US" sz="1750" dirty="0"/>
          </a:p>
        </p:txBody>
      </p:sp>
      <p:pic>
        <p:nvPicPr>
          <p:cNvPr id="4" name="Image 0" descr="/mnt/data/69af8236-2432-4cfc-85e6-48c9428480f6.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Análisis de asignaciones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programó la parte que permite analizar una asignación, separando la variable del lado izquierdo y la expresión del lado derecho.</a:t>
            </a:r>
            <a:endParaRPr lang="en-US" sz="1750" dirty="0"/>
          </a:p>
        </p:txBody>
      </p:sp>
      <p:pic>
        <p:nvPicPr>
          <p:cNvPr id="4" name="Image 0" descr="/mnt/data/c8a309c6-a31f-4268-85f0-cec8a39cf161.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Generación de código intermedio para IF</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agregó la generación de código intermedio para una condición IF. Primero se analiza la condición y después se genera el código de la instrucción que se ejecuta si la condición se cumple.</a:t>
            </a:r>
            <a:endParaRPr lang="en-US" sz="1750" dirty="0"/>
          </a:p>
        </p:txBody>
      </p:sp>
      <p:pic>
        <p:nvPicPr>
          <p:cNvPr id="4" name="Image 0" descr="/mnt/data/54a8169c-cdb4-40cb-8655-667ce4365e14.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Generación de código intermedio para WHILE</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implementó la estructura WHILE, utilizando etiquetas para representar el inicio del ciclo, la condición, el salto y el regreso a la repetición.</a:t>
            </a:r>
            <a:endParaRPr lang="en-US" sz="1750" dirty="0"/>
          </a:p>
        </p:txBody>
      </p:sp>
      <p:pic>
        <p:nvPicPr>
          <p:cNvPr id="4" name="Image 0" descr="/mnt/data/626e5711-9f20-491c-8599-d233261680c3.png"/>
          <p:cNvPicPr>
            <a:picLocks noChangeAspect="1"/>
          </p:cNvPicPr>
          <p:nvPr/>
        </p:nvPicPr>
        <p:blipFill>
          <a:blip r:embed="rId3"/>
          <a:stretch>
            <a:fillRect/>
          </a:stretch>
        </p:blipFill>
        <p:spPr>
          <a:xfrm>
            <a:off x="2265648" y="1874520"/>
            <a:ext cx="7675943"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Ejemplo de función</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añadió un ejemplo conceptual de función para mostrar cómo se representan parámetros, llamadas y asignación del resultado mediante código intermedio.</a:t>
            </a:r>
            <a:endParaRPr lang="en-US" sz="1750" dirty="0"/>
          </a:p>
        </p:txBody>
      </p:sp>
      <p:pic>
        <p:nvPicPr>
          <p:cNvPr id="4" name="Image 0" descr="/mnt/data/5e8f3ab6-63cf-49d5-9758-d78d9a3a79c0.png"/>
          <p:cNvPicPr>
            <a:picLocks noChangeAspect="1"/>
          </p:cNvPicPr>
          <p:nvPr/>
        </p:nvPicPr>
        <p:blipFill>
          <a:blip r:embed="rId3"/>
          <a:stretch>
            <a:fillRect/>
          </a:stretch>
        </p:blipFill>
        <p:spPr>
          <a:xfrm>
            <a:off x="2265648" y="1874520"/>
            <a:ext cx="7675943"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Ejemplo de estructura</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incluyó un ejemplo de estructura para representar el acceso a un atributo y su modificación mediante una operación intermedia.</a:t>
            </a:r>
            <a:endParaRPr lang="en-US" sz="1750" dirty="0"/>
          </a:p>
        </p:txBody>
      </p:sp>
      <p:pic>
        <p:nvPicPr>
          <p:cNvPr id="4" name="Image 0" descr="/mnt/data/05e12bb8-187c-40ab-b0c0-04c61d95e699.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Método principal de análisis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concentró el proceso principal en un método que tokeniza, valida, convierte y genera las representaciones necesarias de una expresión.</a:t>
            </a:r>
            <a:endParaRPr lang="en-US" sz="1750" dirty="0"/>
          </a:p>
        </p:txBody>
      </p:sp>
      <p:pic>
        <p:nvPicPr>
          <p:cNvPr id="4" name="Image 0" descr="/mnt/data/9bcfc25f-bf99-4fcf-bc8e-21484ac9522d.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Tokenización de la expresión</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creó el método que divide una expresión en tokens, reconociendo operadores, identificadores, números y paréntesis.</a:t>
            </a:r>
            <a:endParaRPr lang="en-US" sz="1750" dirty="0"/>
          </a:p>
        </p:txBody>
      </p:sp>
      <p:pic>
        <p:nvPicPr>
          <p:cNvPr id="4" name="Image 0" descr="/mnt/data/c7e27566-3ae7-4ba8-ab85-8ce1b5730155.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Validación de tokens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agregó una validación para revisar el balance de paréntesis y el orden correcto entre operandos y operadores.</a:t>
            </a:r>
            <a:endParaRPr lang="en-US" sz="1750" dirty="0"/>
          </a:p>
        </p:txBody>
      </p:sp>
      <p:pic>
        <p:nvPicPr>
          <p:cNvPr id="4" name="Image 0" descr="/mnt/data/4b1b90d7-c058-4e26-af6f-6b8fc04b73c8.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Conversión de infija a postfija</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implementó la conversión de expresión infija a postfija usando una pila y respetando la precedencia de los operadores.</a:t>
            </a:r>
            <a:endParaRPr lang="en-US" sz="1750" dirty="0"/>
          </a:p>
        </p:txBody>
      </p:sp>
      <p:pic>
        <p:nvPicPr>
          <p:cNvPr id="4" name="Image 0" descr="/mnt/data/8ebc403d-7783-4a64-a4b1-5120234a53e3.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Conversión de postfija a prefija</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generó la notación prefija a partir de la postfija. Esta parte permite mostrar la expresión en notación polaca.</a:t>
            </a:r>
            <a:endParaRPr lang="en-US" sz="1750" dirty="0"/>
          </a:p>
        </p:txBody>
      </p:sp>
      <p:pic>
        <p:nvPicPr>
          <p:cNvPr id="4" name="Image 0" descr="/mnt/data/8a8c602f-3816-42b5-84bb-562249809d9c.png"/>
          <p:cNvPicPr>
            <a:picLocks noChangeAspect="1"/>
          </p:cNvPicPr>
          <p:nvPr/>
        </p:nvPicPr>
        <p:blipFill>
          <a:blip r:embed="rId3"/>
          <a:stretch>
            <a:fillRect/>
          </a:stretch>
        </p:blipFill>
        <p:spPr>
          <a:xfrm>
            <a:off x="2265648" y="1874520"/>
            <a:ext cx="7675943"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Generación de Código P, triplos y cuádruplos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construyeron las representaciones intermedias usando temporales. Con esto el programa genera Código P, triplos y cuádruplos.</a:t>
            </a:r>
            <a:endParaRPr lang="en-US" sz="1750" dirty="0"/>
          </a:p>
        </p:txBody>
      </p:sp>
      <p:pic>
        <p:nvPicPr>
          <p:cNvPr id="4" name="Image 0" descr="/mnt/data/de92f153-a13d-48e0-a95d-d2fcc6a2fb21.png"/>
          <p:cNvPicPr>
            <a:picLocks noChangeAspect="1"/>
          </p:cNvPicPr>
          <p:nvPr/>
        </p:nvPicPr>
        <p:blipFill>
          <a:blip r:embed="rId3"/>
          <a:stretch>
            <a:fillRect/>
          </a:stretch>
        </p:blipFill>
        <p:spPr>
          <a:xfrm>
            <a:off x="2267204" y="1874520"/>
            <a:ext cx="7672832"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411480"/>
          </a:xfrm>
          <a:prstGeom prst="rect">
            <a:avLst/>
          </a:prstGeom>
          <a:noFill/>
          <a:ln/>
        </p:spPr>
        <p:txBody>
          <a:bodyPr wrap="square" lIns="0" tIns="0" rIns="0" bIns="0" rtlCol="0" anchor="ctr">
            <a:normAutofit/>
          </a:bodyPr>
          <a:lstStyle/>
          <a:p>
            <a:pPr marL="0" indent="0" algn="l">
              <a:buNone/>
            </a:pPr>
            <a:r>
              <a:rPr lang="en-US" sz="2400" b="1" dirty="0">
                <a:solidFill>
                  <a:srgbClr val="1F1F1F"/>
                </a:solidFill>
                <a:latin typeface="Arial" pitchFamily="34" charset="0"/>
                <a:ea typeface="Arial" pitchFamily="34" charset="-122"/>
                <a:cs typeface="Arial" pitchFamily="34" charset="-120"/>
              </a:rPr>
              <a:t>Impresión de resultados finales</a:t>
            </a:r>
            <a:endParaRPr lang="en-US" sz="2400" dirty="0"/>
          </a:p>
        </p:txBody>
      </p:sp>
      <p:sp>
        <p:nvSpPr>
          <p:cNvPr id="3" name="Text 1"/>
          <p:cNvSpPr/>
          <p:nvPr/>
        </p:nvSpPr>
        <p:spPr>
          <a:xfrm>
            <a:off x="685800" y="896112"/>
            <a:ext cx="10835640" cy="822960"/>
          </a:xfrm>
          <a:prstGeom prst="rect">
            <a:avLst/>
          </a:prstGeom>
          <a:noFill/>
          <a:ln/>
        </p:spPr>
        <p:txBody>
          <a:bodyPr wrap="square" lIns="0" tIns="0" rIns="0" bIns="0" rtlCol="0" anchor="ctr">
            <a:normAutofit/>
          </a:bodyPr>
          <a:lstStyle/>
          <a:p>
            <a:pPr marL="0" indent="0" algn="l">
              <a:buNone/>
            </a:pPr>
            <a:r>
              <a:rPr lang="en-US" sz="1750" dirty="0">
                <a:solidFill>
                  <a:srgbClr val="1F1F1F"/>
                </a:solidFill>
                <a:latin typeface="Arial" pitchFamily="34" charset="0"/>
                <a:ea typeface="Arial" pitchFamily="34" charset="-122"/>
                <a:cs typeface="Arial" pitchFamily="34" charset="-120"/>
              </a:rPr>
              <a:t>Se programó la salida final para mostrar la infija, prefija, postfija, notación polaca, Código P, triplos, cuádruplos, variables y constantes detectadas.</a:t>
            </a:r>
            <a:endParaRPr lang="en-US" sz="1750" dirty="0"/>
          </a:p>
        </p:txBody>
      </p:sp>
      <p:pic>
        <p:nvPicPr>
          <p:cNvPr id="4" name="Image 0" descr="/mnt/data/bfed1a0c-00d9-4404-88ed-22c818a06472.png"/>
          <p:cNvPicPr>
            <a:picLocks noChangeAspect="1"/>
          </p:cNvPicPr>
          <p:nvPr/>
        </p:nvPicPr>
        <p:blipFill>
          <a:blip r:embed="rId3"/>
          <a:stretch>
            <a:fillRect/>
          </a:stretch>
        </p:blipFill>
        <p:spPr>
          <a:xfrm>
            <a:off x="2262088" y="1874520"/>
            <a:ext cx="7683064" cy="4315968"/>
          </a:xfrm>
          <a:prstGeom prst="rect">
            <a:avLst/>
          </a:prstGeom>
        </p:spPr>
      </p:pic>
      <p:sp>
        <p:nvSpPr>
          <p:cNvPr id="5" name="Text 2"/>
          <p:cNvSpPr/>
          <p:nvPr/>
        </p:nvSpPr>
        <p:spPr>
          <a:xfrm>
            <a:off x="502920" y="6510528"/>
            <a:ext cx="1115568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Captura 16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502920"/>
          </a:xfrm>
          <a:prstGeom prst="rect">
            <a:avLst/>
          </a:prstGeom>
          <a:noFill/>
          <a:ln/>
        </p:spPr>
        <p:txBody>
          <a:bodyPr wrap="square" lIns="0" tIns="0" rIns="0" bIns="0" rtlCol="0" anchor="ctr">
            <a:normAutofit/>
          </a:bodyPr>
          <a:lstStyle/>
          <a:p>
            <a:pPr marL="0" indent="0" algn="l">
              <a:buNone/>
            </a:pPr>
            <a:r>
              <a:rPr lang="en-US" sz="3000" b="1" dirty="0">
                <a:solidFill>
                  <a:srgbClr val="1F1F1F"/>
                </a:solidFill>
                <a:latin typeface="Arial" pitchFamily="34" charset="0"/>
                <a:ea typeface="Arial" pitchFamily="34" charset="-122"/>
                <a:cs typeface="Arial" pitchFamily="34" charset="-120"/>
              </a:rPr>
              <a:t>Conclusión</a:t>
            </a:r>
            <a:endParaRPr lang="en-US" sz="3000" dirty="0"/>
          </a:p>
        </p:txBody>
      </p:sp>
      <p:sp>
        <p:nvSpPr>
          <p:cNvPr id="3" name="Text 1"/>
          <p:cNvSpPr/>
          <p:nvPr/>
        </p:nvSpPr>
        <p:spPr>
          <a:xfrm>
            <a:off x="777240" y="1600200"/>
            <a:ext cx="10698480" cy="4160520"/>
          </a:xfrm>
          <a:prstGeom prst="rect">
            <a:avLst/>
          </a:prstGeom>
          <a:noFill/>
          <a:ln/>
        </p:spPr>
        <p:txBody>
          <a:bodyPr wrap="square" lIns="0" tIns="0" rIns="0" bIns="0" rtlCol="0" anchor="ctr">
            <a:normAutofit/>
          </a:bodyPr>
          <a:lstStyle/>
          <a:p>
            <a:pPr marL="0" indent="0" algn="l">
              <a:buNone/>
            </a:pPr>
            <a:r>
              <a:rPr lang="en-US" sz="2300" dirty="0">
                <a:solidFill>
                  <a:srgbClr val="1F1F1F"/>
                </a:solidFill>
                <a:latin typeface="Arial" pitchFamily="34" charset="0"/>
                <a:ea typeface="Arial" pitchFamily="34" charset="-122"/>
                <a:cs typeface="Arial" pitchFamily="34" charset="-120"/>
              </a:rPr>
              <a:t>Con esta práctica se comprendió mejor cómo se realiza la generación de código intermedio dentro de un compilador. El programa permitió transformar expresiones comunes en representaciones más simples y organizadas, mostrando paso a paso el trabajo que realiza el analizador. También se reforzó el uso de Java e IntelliJ IDEA para crear una herramienta funcional que identifica variables, constantes, operadores y estructuras básicas de programación.</a:t>
            </a:r>
            <a:endParaRPr lang="en-US" sz="2300" dirty="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TotalTime>
  <Words>800</Words>
  <Application>Microsoft Office PowerPoint</Application>
  <PresentationFormat>Panorámica</PresentationFormat>
  <Paragraphs>97</Paragraphs>
  <Slides>20</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de práctica - Código intermedio Java</dc:title>
  <dc:subject>Reporte de práctica de generación de código intermedio en Java</dc:subject>
  <dc:creator>OpenAI</dc:creator>
  <cp:lastModifiedBy>eddi castillo</cp:lastModifiedBy>
  <cp:revision>2</cp:revision>
  <dcterms:created xsi:type="dcterms:W3CDTF">2026-09-21T17:11:18Z</dcterms:created>
  <dcterms:modified xsi:type="dcterms:W3CDTF">2026-09-21T17:19:32Z</dcterms:modified>
</cp:coreProperties>
</file>