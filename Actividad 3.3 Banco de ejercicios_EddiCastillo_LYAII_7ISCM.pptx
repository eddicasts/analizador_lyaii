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8"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403165" y="1005840"/>
            <a:ext cx="5263749" cy="5232202"/>
          </a:xfrm>
          <a:prstGeom prst="rect">
            <a:avLst/>
          </a:prstGeom>
          <a:noFill/>
        </p:spPr>
        <p:txBody>
          <a:bodyPr wrap="none">
            <a:spAutoFit/>
          </a:bodyPr>
          <a:lstStyle/>
          <a:p>
            <a:pPr algn="ctr"/>
            <a:r>
              <a:rPr sz="1800" b="1" dirty="0">
                <a:solidFill>
                  <a:srgbClr val="181818"/>
                </a:solidFill>
                <a:latin typeface="Arial"/>
              </a:rPr>
              <a:t>TECNOLÓGICO NACIONAL DE MÉXICO</a:t>
            </a:r>
          </a:p>
          <a:p>
            <a:pPr algn="ctr"/>
            <a:r>
              <a:rPr sz="1500" b="1" dirty="0">
                <a:solidFill>
                  <a:srgbClr val="181818"/>
                </a:solidFill>
                <a:latin typeface="Arial"/>
              </a:rPr>
              <a:t>INSTITUTO TECNOLÓGICO DE FRONTERA COMALAPA</a:t>
            </a:r>
          </a:p>
          <a:p>
            <a:pPr algn="ctr"/>
            <a:endParaRPr sz="1500" b="1" dirty="0">
              <a:solidFill>
                <a:srgbClr val="181818"/>
              </a:solidFill>
              <a:latin typeface="Arial"/>
            </a:endParaRPr>
          </a:p>
          <a:p>
            <a:pPr algn="ctr"/>
            <a:r>
              <a:rPr sz="1300" b="1" dirty="0">
                <a:solidFill>
                  <a:srgbClr val="181818"/>
                </a:solidFill>
                <a:latin typeface="Arial"/>
              </a:rPr>
              <a:t>NOMBRE DE LA MATERIA</a:t>
            </a:r>
          </a:p>
          <a:p>
            <a:pPr algn="ctr"/>
            <a:r>
              <a:rPr lang="es-ES" sz="1500" b="0" dirty="0">
                <a:solidFill>
                  <a:srgbClr val="181818"/>
                </a:solidFill>
                <a:latin typeface="Arial"/>
              </a:rPr>
              <a:t>Lenguajes y </a:t>
            </a:r>
            <a:r>
              <a:rPr lang="es-ES" sz="1500" b="0" dirty="0" err="1">
                <a:solidFill>
                  <a:srgbClr val="181818"/>
                </a:solidFill>
                <a:latin typeface="Arial"/>
              </a:rPr>
              <a:t>Automatas</a:t>
            </a:r>
            <a:r>
              <a:rPr lang="es-ES" sz="1500" b="0" dirty="0">
                <a:solidFill>
                  <a:srgbClr val="181818"/>
                </a:solidFill>
                <a:latin typeface="Arial"/>
              </a:rPr>
              <a:t> II</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NOMBRE DEL ESTUDIANTE</a:t>
            </a:r>
          </a:p>
          <a:p>
            <a:pPr algn="ctr"/>
            <a:r>
              <a:rPr sz="1500" b="0" dirty="0">
                <a:solidFill>
                  <a:srgbClr val="181818"/>
                </a:solidFill>
                <a:latin typeface="Arial"/>
              </a:rPr>
              <a:t>EDDI URIEL CASTILLO SÁNCHEZ</a:t>
            </a:r>
          </a:p>
          <a:p>
            <a:pPr algn="ctr"/>
            <a:endParaRPr sz="1500" b="0" dirty="0">
              <a:solidFill>
                <a:srgbClr val="181818"/>
              </a:solidFill>
              <a:latin typeface="Arial"/>
            </a:endParaRPr>
          </a:p>
          <a:p>
            <a:pPr algn="ctr"/>
            <a:r>
              <a:rPr sz="1300" b="1" dirty="0">
                <a:solidFill>
                  <a:srgbClr val="181818"/>
                </a:solidFill>
                <a:latin typeface="Arial"/>
              </a:rPr>
              <a:t>CARRERA</a:t>
            </a:r>
          </a:p>
          <a:p>
            <a:pPr algn="ctr"/>
            <a:r>
              <a:rPr sz="1500" b="0" dirty="0">
                <a:solidFill>
                  <a:srgbClr val="181818"/>
                </a:solidFill>
                <a:latin typeface="Arial"/>
              </a:rPr>
              <a:t>INGENIERÍA EN SISTEMAS COMPUTACIONALES</a:t>
            </a:r>
          </a:p>
          <a:p>
            <a:pPr algn="ctr"/>
            <a:endParaRPr sz="1500" b="0" dirty="0">
              <a:solidFill>
                <a:srgbClr val="181818"/>
              </a:solidFill>
              <a:latin typeface="Arial"/>
            </a:endParaRPr>
          </a:p>
          <a:p>
            <a:pPr algn="ctr"/>
            <a:r>
              <a:rPr sz="1300" b="1" dirty="0">
                <a:solidFill>
                  <a:srgbClr val="181818"/>
                </a:solidFill>
                <a:latin typeface="Arial"/>
              </a:rPr>
              <a:t>SEMESTRE</a:t>
            </a:r>
          </a:p>
          <a:p>
            <a:pPr algn="ctr"/>
            <a:r>
              <a:rPr sz="1500" b="0" dirty="0">
                <a:solidFill>
                  <a:srgbClr val="181818"/>
                </a:solidFill>
                <a:latin typeface="Arial"/>
              </a:rPr>
              <a:t>SÉPTIMO SEMESTRE</a:t>
            </a:r>
          </a:p>
          <a:p>
            <a:pPr algn="ctr"/>
            <a:endParaRPr sz="1500" b="0" dirty="0">
              <a:solidFill>
                <a:srgbClr val="181818"/>
              </a:solidFill>
              <a:latin typeface="Arial"/>
            </a:endParaRPr>
          </a:p>
          <a:p>
            <a:pPr algn="ctr"/>
            <a:r>
              <a:rPr sz="1300" b="1" dirty="0">
                <a:solidFill>
                  <a:srgbClr val="181818"/>
                </a:solidFill>
                <a:latin typeface="Arial"/>
              </a:rPr>
              <a:t>NOMBRE DEL DOCENTE</a:t>
            </a:r>
          </a:p>
          <a:p>
            <a:pPr algn="ctr"/>
            <a:r>
              <a:rPr sz="1500" b="0" dirty="0">
                <a:solidFill>
                  <a:srgbClr val="181818"/>
                </a:solidFill>
                <a:latin typeface="Arial"/>
              </a:rPr>
              <a:t>Ing. Javier Francisco Mingo Velázquez</a:t>
            </a:r>
          </a:p>
          <a:p>
            <a:pPr algn="ctr"/>
            <a:endParaRPr sz="1500" b="0" dirty="0">
              <a:solidFill>
                <a:srgbClr val="181818"/>
              </a:solidFill>
              <a:latin typeface="Arial"/>
            </a:endParaRPr>
          </a:p>
          <a:p>
            <a:pPr algn="ctr"/>
            <a:r>
              <a:rPr sz="1300" b="1" dirty="0">
                <a:solidFill>
                  <a:srgbClr val="181818"/>
                </a:solidFill>
                <a:latin typeface="Arial"/>
              </a:rPr>
              <a:t>NOMBRE DEL TRABAJO</a:t>
            </a:r>
          </a:p>
          <a:p>
            <a:pPr algn="ctr"/>
            <a:r>
              <a:rPr sz="1500" b="0" dirty="0" err="1">
                <a:solidFill>
                  <a:srgbClr val="181818"/>
                </a:solidFill>
                <a:latin typeface="Arial"/>
              </a:rPr>
              <a:t>Actividad</a:t>
            </a:r>
            <a:r>
              <a:rPr sz="1500" b="0" dirty="0">
                <a:solidFill>
                  <a:srgbClr val="181818"/>
                </a:solidFill>
                <a:latin typeface="Arial"/>
              </a:rPr>
              <a:t> </a:t>
            </a:r>
            <a:r>
              <a:rPr lang="es-MX" sz="1500" dirty="0">
                <a:solidFill>
                  <a:srgbClr val="181818"/>
                </a:solidFill>
                <a:latin typeface="Arial"/>
              </a:rPr>
              <a:t>3</a:t>
            </a:r>
            <a:r>
              <a:rPr lang="es-MX" sz="1500">
                <a:solidFill>
                  <a:srgbClr val="181818"/>
                </a:solidFill>
                <a:latin typeface="Arial"/>
              </a:rPr>
              <a:t>.3 </a:t>
            </a:r>
            <a:r>
              <a:rPr lang="es-MX" sz="1500" dirty="0">
                <a:solidFill>
                  <a:srgbClr val="181818"/>
                </a:solidFill>
                <a:latin typeface="Arial"/>
              </a:rPr>
              <a:t>Banco de ejercicios</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LUGAR Y FECHA</a:t>
            </a:r>
          </a:p>
          <a:p>
            <a:pPr algn="ctr"/>
            <a:r>
              <a:rPr sz="1500" b="0" dirty="0">
                <a:solidFill>
                  <a:srgbClr val="181818"/>
                </a:solidFill>
                <a:latin typeface="Arial"/>
              </a:rPr>
              <a:t>Frontera </a:t>
            </a:r>
            <a:r>
              <a:rPr sz="1500" b="0" dirty="0" err="1">
                <a:solidFill>
                  <a:srgbClr val="181818"/>
                </a:solidFill>
                <a:latin typeface="Arial"/>
              </a:rPr>
              <a:t>Comalapa</a:t>
            </a:r>
            <a:r>
              <a:rPr sz="1500" b="0" dirty="0">
                <a:solidFill>
                  <a:srgbClr val="181818"/>
                </a:solidFill>
                <a:latin typeface="Arial"/>
              </a:rPr>
              <a:t>, Chiapas </a:t>
            </a:r>
            <a:r>
              <a:rPr lang="es-MX" sz="1500" dirty="0">
                <a:solidFill>
                  <a:srgbClr val="181818"/>
                </a:solidFill>
                <a:latin typeface="Arial"/>
              </a:rPr>
              <a:t> 22 de </a:t>
            </a:r>
            <a:r>
              <a:rPr sz="1500" b="0" dirty="0" err="1">
                <a:solidFill>
                  <a:srgbClr val="181818"/>
                </a:solidFill>
                <a:latin typeface="Arial"/>
              </a:rPr>
              <a:t>septiembre</a:t>
            </a:r>
            <a:r>
              <a:rPr sz="1500" b="0" dirty="0">
                <a:solidFill>
                  <a:srgbClr val="181818"/>
                </a:solidFill>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Introducción</a:t>
            </a:r>
            <a:endParaRPr sz="2200" b="1" dirty="0">
              <a:latin typeface="Arial"/>
            </a:endParaRPr>
          </a:p>
        </p:txBody>
      </p:sp>
      <p:sp>
        <p:nvSpPr>
          <p:cNvPr id="4" name="TextBox 3"/>
          <p:cNvSpPr txBox="1"/>
          <p:nvPr/>
        </p:nvSpPr>
        <p:spPr>
          <a:xfrm>
            <a:off x="777240" y="1280160"/>
            <a:ext cx="10698480" cy="2194560"/>
          </a:xfrm>
          <a:prstGeom prst="rect">
            <a:avLst/>
          </a:prstGeom>
          <a:noFill/>
        </p:spPr>
        <p:txBody>
          <a:bodyPr wrap="square" lIns="45720" tIns="18288" rIns="45720" bIns="18288"/>
          <a:lstStyle/>
          <a:p>
            <a:pPr algn="l"/>
            <a:r>
              <a:rPr sz="2200" b="0">
                <a:solidFill>
                  <a:srgbClr val="2D2D2D"/>
                </a:solidFill>
                <a:latin typeface="Arial"/>
              </a:rPr>
              <a:t>La optimización de código consiste en mejorar un programa para que realice el mismo proceso, pero utilizando menos recursos o instrucciones. En esta unidad se trabajó con un programa elaborado en Java que permite observar diferentes formas de optimización y analizar cómo cambia el código antes y después del proceso.</a:t>
            </a:r>
          </a:p>
        </p:txBody>
      </p:sp>
      <p:sp>
        <p:nvSpPr>
          <p:cNvPr id="5" name="TextBox 4"/>
          <p:cNvSpPr txBox="1"/>
          <p:nvPr/>
        </p:nvSpPr>
        <p:spPr>
          <a:xfrm>
            <a:off x="777240" y="3794760"/>
            <a:ext cx="10698480" cy="1554480"/>
          </a:xfrm>
          <a:prstGeom prst="rect">
            <a:avLst/>
          </a:prstGeom>
          <a:noFill/>
        </p:spPr>
        <p:txBody>
          <a:bodyPr wrap="square" lIns="45720" tIns="18288" rIns="45720" bIns="18288"/>
          <a:lstStyle/>
          <a:p>
            <a:pPr algn="l"/>
            <a:r>
              <a:rPr sz="2200" b="0">
                <a:solidFill>
                  <a:srgbClr val="2D2D2D"/>
                </a:solidFill>
                <a:latin typeface="Arial"/>
              </a:rPr>
              <a:t>Los ejercicios se realizaron con ejemplos sencillos para identificar con claridad cada tipo de optimización y su utilidad dentro del proceso de compilación.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419838" y="156529"/>
            <a:ext cx="11155680" cy="329184"/>
          </a:xfrm>
          <a:prstGeom prst="rect">
            <a:avLst/>
          </a:prstGeom>
          <a:noFill/>
        </p:spPr>
        <p:txBody>
          <a:bodyPr wrap="square" lIns="45720" tIns="18288" rIns="45720" bIns="18288"/>
          <a:lstStyle/>
          <a:p>
            <a:pPr algn="l"/>
            <a:r>
              <a:rPr sz="2200" b="1" dirty="0" err="1">
                <a:latin typeface="Arial"/>
              </a:rPr>
              <a:t>Justificación</a:t>
            </a:r>
            <a:endParaRPr sz="2200" b="1" dirty="0">
              <a:latin typeface="Arial"/>
            </a:endParaRPr>
          </a:p>
        </p:txBody>
      </p:sp>
      <p:sp>
        <p:nvSpPr>
          <p:cNvPr id="4" name="TextBox 3"/>
          <p:cNvSpPr txBox="1"/>
          <p:nvPr/>
        </p:nvSpPr>
        <p:spPr>
          <a:xfrm>
            <a:off x="777240" y="1143000"/>
            <a:ext cx="10698480" cy="2286000"/>
          </a:xfrm>
          <a:prstGeom prst="rect">
            <a:avLst/>
          </a:prstGeom>
          <a:noFill/>
        </p:spPr>
        <p:txBody>
          <a:bodyPr wrap="square" lIns="45720" tIns="18288" rIns="45720" bIns="18288"/>
          <a:lstStyle/>
          <a:p>
            <a:pPr algn="l"/>
            <a:r>
              <a:rPr sz="2200" b="0">
                <a:solidFill>
                  <a:srgbClr val="2D2D2D"/>
                </a:solidFill>
                <a:latin typeface="Arial"/>
              </a:rPr>
              <a:t>La realización de este banco de ejercicios es importante porque permite comprobar de manera práctica los temas de optimización vistos en la unidad. Al ejecutar el programa en IntelliJ IDEA se puede observar cómo una instrucción original puede reducirse, reorganizarse o simplificarse sin cambiar el resultado final.</a:t>
            </a:r>
          </a:p>
        </p:txBody>
      </p:sp>
      <p:sp>
        <p:nvSpPr>
          <p:cNvPr id="5" name="TextBox 4"/>
          <p:cNvSpPr txBox="1"/>
          <p:nvPr/>
        </p:nvSpPr>
        <p:spPr>
          <a:xfrm>
            <a:off x="777240" y="3657600"/>
            <a:ext cx="10698480" cy="1920240"/>
          </a:xfrm>
          <a:prstGeom prst="rect">
            <a:avLst/>
          </a:prstGeom>
          <a:noFill/>
        </p:spPr>
        <p:txBody>
          <a:bodyPr wrap="square" lIns="45720" tIns="18288" rIns="45720" bIns="18288"/>
          <a:lstStyle/>
          <a:p>
            <a:pPr algn="l"/>
            <a:r>
              <a:rPr sz="2200" b="0">
                <a:solidFill>
                  <a:srgbClr val="2D2D2D"/>
                </a:solidFill>
                <a:latin typeface="Arial"/>
              </a:rPr>
              <a:t>Además, las capturas sirven como evidencia del funcionamiento del programa y ayudan a relacionar la teoría con la práctica. De esta forma se comprende mejor la importancia de disminuir instrucciones innecesarias, reducir costos de ejecución y analizar el flujo de datos para obtener código más eficiente.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Ejercicio</a:t>
            </a:r>
            <a:r>
              <a:rPr sz="2200" b="1" dirty="0">
                <a:latin typeface="Arial"/>
              </a:rPr>
              <a:t> 1. </a:t>
            </a:r>
            <a:r>
              <a:rPr sz="2200" b="1" dirty="0" err="1">
                <a:latin typeface="Arial"/>
              </a:rPr>
              <a:t>Optimización</a:t>
            </a:r>
            <a:r>
              <a:rPr sz="2200" b="1" dirty="0">
                <a:latin typeface="Arial"/>
              </a:rPr>
              <a:t> local</a:t>
            </a:r>
          </a:p>
        </p:txBody>
      </p:sp>
      <p:sp>
        <p:nvSpPr>
          <p:cNvPr id="4" name="TextBox 3"/>
          <p:cNvSpPr txBox="1"/>
          <p:nvPr/>
        </p:nvSpPr>
        <p:spPr>
          <a:xfrm>
            <a:off x="594360" y="914400"/>
            <a:ext cx="3749039" cy="731520"/>
          </a:xfrm>
          <a:prstGeom prst="rect">
            <a:avLst/>
          </a:prstGeom>
          <a:noFill/>
        </p:spPr>
        <p:txBody>
          <a:bodyPr wrap="square" lIns="45720" tIns="18288" rIns="45720" bIns="18288"/>
          <a:lstStyle/>
          <a:p>
            <a:pPr algn="l"/>
            <a:r>
              <a:rPr sz="1800" b="1" dirty="0">
                <a:latin typeface="Arial"/>
              </a:rPr>
              <a:t>Código </a:t>
            </a:r>
            <a:r>
              <a:rPr sz="1800" b="1" dirty="0" err="1">
                <a:latin typeface="Arial"/>
              </a:rPr>
              <a:t>utilizado</a:t>
            </a:r>
            <a:r>
              <a:rPr sz="1800" b="1" dirty="0">
                <a:latin typeface="Arial"/>
              </a:rPr>
              <a:t>: x = 2 + 3 * 4</a:t>
            </a:r>
          </a:p>
        </p:txBody>
      </p:sp>
      <p:sp>
        <p:nvSpPr>
          <p:cNvPr id="5" name="TextBox 4"/>
          <p:cNvSpPr txBox="1"/>
          <p:nvPr/>
        </p:nvSpPr>
        <p:spPr>
          <a:xfrm>
            <a:off x="594360" y="1783080"/>
            <a:ext cx="3749039" cy="3246120"/>
          </a:xfrm>
          <a:prstGeom prst="rect">
            <a:avLst/>
          </a:prstGeom>
          <a:noFill/>
        </p:spPr>
        <p:txBody>
          <a:bodyPr wrap="square" lIns="45720" tIns="18288" rIns="45720" bIns="18288"/>
          <a:lstStyle/>
          <a:p>
            <a:pPr algn="l"/>
            <a:r>
              <a:rPr sz="1800" b="0">
                <a:solidFill>
                  <a:srgbClr val="2D2D2D"/>
                </a:solidFill>
                <a:latin typeface="Arial"/>
              </a:rPr>
              <a:t>El programa aplica plegado de constantes. Primero calcula la operación numérica y después reemplaza la expresión completa por un solo valor. El resultado optimizado queda como x = 14.</a:t>
            </a:r>
          </a:p>
        </p:txBody>
      </p:sp>
      <p:sp>
        <p:nvSpPr>
          <p:cNvPr id="6" name="TextBox 5"/>
          <p:cNvSpPr txBox="1"/>
          <p:nvPr/>
        </p:nvSpPr>
        <p:spPr>
          <a:xfrm>
            <a:off x="594360" y="5394960"/>
            <a:ext cx="3749039" cy="640080"/>
          </a:xfrm>
          <a:prstGeom prst="rect">
            <a:avLst/>
          </a:prstGeom>
          <a:noFill/>
        </p:spPr>
        <p:txBody>
          <a:bodyPr wrap="square" lIns="45720" tIns="18288" rIns="45720" bIns="18288"/>
          <a:lstStyle/>
          <a:p>
            <a:pPr algn="l"/>
            <a:endParaRPr sz="1600" b="0" dirty="0">
              <a:solidFill>
                <a:srgbClr val="525252"/>
              </a:solidFill>
              <a:latin typeface="Arial"/>
            </a:endParaRPr>
          </a:p>
        </p:txBody>
      </p:sp>
      <p:pic>
        <p:nvPicPr>
          <p:cNvPr id="7" name="Picture 6" descr="local.png"/>
          <p:cNvPicPr>
            <a:picLocks noChangeAspect="1"/>
          </p:cNvPicPr>
          <p:nvPr/>
        </p:nvPicPr>
        <p:blipFill>
          <a:blip r:embed="rId2"/>
          <a:stretch>
            <a:fillRect/>
          </a:stretch>
        </p:blipFill>
        <p:spPr>
          <a:xfrm>
            <a:off x="4572000" y="2612876"/>
            <a:ext cx="7178040" cy="21808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Ejercicio</a:t>
            </a:r>
            <a:r>
              <a:rPr sz="2200" b="1" dirty="0">
                <a:latin typeface="Arial"/>
              </a:rPr>
              <a:t> 2. </a:t>
            </a:r>
            <a:r>
              <a:rPr sz="2200" b="1" dirty="0" err="1">
                <a:latin typeface="Arial"/>
              </a:rPr>
              <a:t>Optimización</a:t>
            </a:r>
            <a:r>
              <a:rPr sz="2200" b="1" dirty="0">
                <a:latin typeface="Arial"/>
              </a:rPr>
              <a:t> de </a:t>
            </a:r>
            <a:r>
              <a:rPr sz="2200" b="1" dirty="0" err="1">
                <a:latin typeface="Arial"/>
              </a:rPr>
              <a:t>ciclos</a:t>
            </a:r>
            <a:endParaRPr sz="2200" b="1" dirty="0">
              <a:latin typeface="Arial"/>
            </a:endParaRPr>
          </a:p>
        </p:txBody>
      </p:sp>
      <p:sp>
        <p:nvSpPr>
          <p:cNvPr id="4" name="TextBox 3"/>
          <p:cNvSpPr txBox="1"/>
          <p:nvPr/>
        </p:nvSpPr>
        <p:spPr>
          <a:xfrm>
            <a:off x="594360" y="914400"/>
            <a:ext cx="3749039" cy="731520"/>
          </a:xfrm>
          <a:prstGeom prst="rect">
            <a:avLst/>
          </a:prstGeom>
          <a:noFill/>
        </p:spPr>
        <p:txBody>
          <a:bodyPr wrap="square" lIns="45720" tIns="18288" rIns="45720" bIns="18288"/>
          <a:lstStyle/>
          <a:p>
            <a:pPr algn="l"/>
            <a:r>
              <a:rPr sz="1800" b="1" dirty="0">
                <a:latin typeface="Arial"/>
              </a:rPr>
              <a:t>Tema: </a:t>
            </a:r>
            <a:r>
              <a:rPr sz="1800" b="1" dirty="0" err="1">
                <a:latin typeface="Arial"/>
              </a:rPr>
              <a:t>movimiento</a:t>
            </a:r>
            <a:r>
              <a:rPr sz="1800" b="1" dirty="0">
                <a:latin typeface="Arial"/>
              </a:rPr>
              <a:t> de </a:t>
            </a:r>
            <a:r>
              <a:rPr sz="1800" b="1" dirty="0" err="1">
                <a:latin typeface="Arial"/>
              </a:rPr>
              <a:t>código</a:t>
            </a:r>
            <a:r>
              <a:rPr sz="1800" b="1" dirty="0">
                <a:latin typeface="Arial"/>
              </a:rPr>
              <a:t> </a:t>
            </a:r>
            <a:r>
              <a:rPr sz="1800" b="1" dirty="0" err="1">
                <a:latin typeface="Arial"/>
              </a:rPr>
              <a:t>invariante</a:t>
            </a:r>
            <a:endParaRPr sz="1800" b="1" dirty="0">
              <a:latin typeface="Arial"/>
            </a:endParaRPr>
          </a:p>
        </p:txBody>
      </p:sp>
      <p:sp>
        <p:nvSpPr>
          <p:cNvPr id="5" name="TextBox 4"/>
          <p:cNvSpPr txBox="1"/>
          <p:nvPr/>
        </p:nvSpPr>
        <p:spPr>
          <a:xfrm>
            <a:off x="594360" y="1783080"/>
            <a:ext cx="3749039" cy="3246120"/>
          </a:xfrm>
          <a:prstGeom prst="rect">
            <a:avLst/>
          </a:prstGeom>
          <a:noFill/>
        </p:spPr>
        <p:txBody>
          <a:bodyPr wrap="square" lIns="45720" tIns="18288" rIns="45720" bIns="18288"/>
          <a:lstStyle/>
          <a:p>
            <a:pPr algn="l"/>
            <a:r>
              <a:rPr sz="1800" b="0">
                <a:solidFill>
                  <a:srgbClr val="2D2D2D"/>
                </a:solidFill>
                <a:latin typeface="Arial"/>
              </a:rPr>
              <a:t>Se observa que una operación que no cambia durante las repeticiones puede salir del ciclo. Esto evita calcular lo mismo muchas veces y mejora el rendimiento del código.</a:t>
            </a:r>
          </a:p>
        </p:txBody>
      </p:sp>
      <p:sp>
        <p:nvSpPr>
          <p:cNvPr id="6" name="TextBox 5"/>
          <p:cNvSpPr txBox="1"/>
          <p:nvPr/>
        </p:nvSpPr>
        <p:spPr>
          <a:xfrm>
            <a:off x="594360" y="5394960"/>
            <a:ext cx="3749039" cy="640080"/>
          </a:xfrm>
          <a:prstGeom prst="rect">
            <a:avLst/>
          </a:prstGeom>
          <a:noFill/>
        </p:spPr>
        <p:txBody>
          <a:bodyPr wrap="square" lIns="45720" tIns="18288" rIns="45720" bIns="18288"/>
          <a:lstStyle/>
          <a:p>
            <a:pPr algn="l"/>
            <a:endParaRPr sz="1600" b="0" dirty="0">
              <a:solidFill>
                <a:srgbClr val="525252"/>
              </a:solidFill>
              <a:latin typeface="Arial"/>
            </a:endParaRPr>
          </a:p>
        </p:txBody>
      </p:sp>
      <p:pic>
        <p:nvPicPr>
          <p:cNvPr id="7" name="Picture 6" descr="ciclos.png"/>
          <p:cNvPicPr>
            <a:picLocks noChangeAspect="1"/>
          </p:cNvPicPr>
          <p:nvPr/>
        </p:nvPicPr>
        <p:blipFill>
          <a:blip r:embed="rId2"/>
          <a:stretch>
            <a:fillRect/>
          </a:stretch>
        </p:blipFill>
        <p:spPr>
          <a:xfrm>
            <a:off x="4572000" y="2612876"/>
            <a:ext cx="7178040" cy="21808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Ejercicio</a:t>
            </a:r>
            <a:r>
              <a:rPr sz="2200" b="1" dirty="0">
                <a:latin typeface="Arial"/>
              </a:rPr>
              <a:t> 3. </a:t>
            </a:r>
            <a:r>
              <a:rPr sz="2200" b="1" dirty="0" err="1">
                <a:latin typeface="Arial"/>
              </a:rPr>
              <a:t>Optimización</a:t>
            </a:r>
            <a:r>
              <a:rPr sz="2200" b="1" dirty="0">
                <a:latin typeface="Arial"/>
              </a:rPr>
              <a:t> global</a:t>
            </a:r>
          </a:p>
        </p:txBody>
      </p:sp>
      <p:sp>
        <p:nvSpPr>
          <p:cNvPr id="4" name="TextBox 3"/>
          <p:cNvSpPr txBox="1"/>
          <p:nvPr/>
        </p:nvSpPr>
        <p:spPr>
          <a:xfrm>
            <a:off x="594360" y="914400"/>
            <a:ext cx="3749039" cy="731520"/>
          </a:xfrm>
          <a:prstGeom prst="rect">
            <a:avLst/>
          </a:prstGeom>
          <a:noFill/>
        </p:spPr>
        <p:txBody>
          <a:bodyPr wrap="square" lIns="45720" tIns="18288" rIns="45720" bIns="18288"/>
          <a:lstStyle/>
          <a:p>
            <a:pPr algn="l"/>
            <a:r>
              <a:rPr lang="es-ES" sz="1800" b="1" dirty="0">
                <a:latin typeface="Arial"/>
              </a:rPr>
              <a:t>Tema: eliminación de subexpresiones comunes</a:t>
            </a:r>
          </a:p>
        </p:txBody>
      </p:sp>
      <p:sp>
        <p:nvSpPr>
          <p:cNvPr id="5" name="TextBox 4"/>
          <p:cNvSpPr txBox="1"/>
          <p:nvPr/>
        </p:nvSpPr>
        <p:spPr>
          <a:xfrm>
            <a:off x="594360" y="1783080"/>
            <a:ext cx="3749039" cy="3246120"/>
          </a:xfrm>
          <a:prstGeom prst="rect">
            <a:avLst/>
          </a:prstGeom>
          <a:noFill/>
        </p:spPr>
        <p:txBody>
          <a:bodyPr wrap="square" lIns="45720" tIns="18288" rIns="45720" bIns="18288"/>
          <a:lstStyle/>
          <a:p>
            <a:pPr algn="l"/>
            <a:r>
              <a:rPr sz="1800" b="0">
                <a:solidFill>
                  <a:srgbClr val="2D2D2D"/>
                </a:solidFill>
                <a:latin typeface="Arial"/>
              </a:rPr>
              <a:t>La expresión a + b aparece más de una vez. El programa conserva un solo cálculo y reutiliza el resultado temporal para evitar operaciones repetidas.</a:t>
            </a:r>
          </a:p>
        </p:txBody>
      </p:sp>
      <p:sp>
        <p:nvSpPr>
          <p:cNvPr id="6" name="TextBox 5"/>
          <p:cNvSpPr txBox="1"/>
          <p:nvPr/>
        </p:nvSpPr>
        <p:spPr>
          <a:xfrm>
            <a:off x="594360" y="5394960"/>
            <a:ext cx="3749039" cy="640080"/>
          </a:xfrm>
          <a:prstGeom prst="rect">
            <a:avLst/>
          </a:prstGeom>
          <a:noFill/>
        </p:spPr>
        <p:txBody>
          <a:bodyPr wrap="square" lIns="45720" tIns="18288" rIns="45720" bIns="18288"/>
          <a:lstStyle/>
          <a:p>
            <a:pPr algn="l"/>
            <a:endParaRPr sz="1600" b="0" dirty="0">
              <a:solidFill>
                <a:srgbClr val="525252"/>
              </a:solidFill>
              <a:latin typeface="Arial"/>
            </a:endParaRPr>
          </a:p>
        </p:txBody>
      </p:sp>
      <p:pic>
        <p:nvPicPr>
          <p:cNvPr id="7" name="Picture 6" descr="global.png"/>
          <p:cNvPicPr>
            <a:picLocks noChangeAspect="1"/>
          </p:cNvPicPr>
          <p:nvPr/>
        </p:nvPicPr>
        <p:blipFill>
          <a:blip r:embed="rId2"/>
          <a:stretch>
            <a:fillRect/>
          </a:stretch>
        </p:blipFill>
        <p:spPr>
          <a:xfrm>
            <a:off x="4572000" y="2612876"/>
            <a:ext cx="7178040" cy="21808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Ejercicio</a:t>
            </a:r>
            <a:r>
              <a:rPr sz="2200" b="1" dirty="0">
                <a:latin typeface="Arial"/>
              </a:rPr>
              <a:t> 4. </a:t>
            </a:r>
            <a:r>
              <a:rPr sz="2200" b="1" dirty="0" err="1">
                <a:latin typeface="Arial"/>
              </a:rPr>
              <a:t>Optimización</a:t>
            </a:r>
            <a:r>
              <a:rPr sz="2200" b="1" dirty="0">
                <a:latin typeface="Arial"/>
              </a:rPr>
              <a:t> de </a:t>
            </a:r>
            <a:r>
              <a:rPr sz="2200" b="1" dirty="0" err="1">
                <a:latin typeface="Arial"/>
              </a:rPr>
              <a:t>mirilla</a:t>
            </a:r>
            <a:endParaRPr sz="2200" b="1" dirty="0">
              <a:latin typeface="Arial"/>
            </a:endParaRPr>
          </a:p>
        </p:txBody>
      </p:sp>
      <p:sp>
        <p:nvSpPr>
          <p:cNvPr id="4" name="TextBox 3"/>
          <p:cNvSpPr txBox="1"/>
          <p:nvPr/>
        </p:nvSpPr>
        <p:spPr>
          <a:xfrm>
            <a:off x="594360" y="914400"/>
            <a:ext cx="3749039" cy="731520"/>
          </a:xfrm>
          <a:prstGeom prst="rect">
            <a:avLst/>
          </a:prstGeom>
          <a:noFill/>
        </p:spPr>
        <p:txBody>
          <a:bodyPr wrap="square" lIns="45720" tIns="18288" rIns="45720" bIns="18288"/>
          <a:lstStyle/>
          <a:p>
            <a:pPr algn="l"/>
            <a:r>
              <a:rPr sz="1800" b="1" dirty="0">
                <a:latin typeface="Arial"/>
              </a:rPr>
              <a:t>Tema: </a:t>
            </a:r>
            <a:r>
              <a:rPr sz="1800" b="1" dirty="0" err="1">
                <a:latin typeface="Arial"/>
              </a:rPr>
              <a:t>eliminación</a:t>
            </a:r>
            <a:r>
              <a:rPr sz="1800" b="1" dirty="0">
                <a:latin typeface="Arial"/>
              </a:rPr>
              <a:t> de </a:t>
            </a:r>
            <a:r>
              <a:rPr sz="1800" b="1" dirty="0" err="1">
                <a:latin typeface="Arial"/>
              </a:rPr>
              <a:t>instrucciones</a:t>
            </a:r>
            <a:r>
              <a:rPr sz="1800" b="1" dirty="0">
                <a:latin typeface="Arial"/>
              </a:rPr>
              <a:t> </a:t>
            </a:r>
            <a:r>
              <a:rPr sz="1800" b="1" dirty="0" err="1">
                <a:latin typeface="Arial"/>
              </a:rPr>
              <a:t>redundantes</a:t>
            </a:r>
            <a:endParaRPr sz="1800" b="1" dirty="0">
              <a:latin typeface="Arial"/>
            </a:endParaRPr>
          </a:p>
        </p:txBody>
      </p:sp>
      <p:sp>
        <p:nvSpPr>
          <p:cNvPr id="5" name="TextBox 4"/>
          <p:cNvSpPr txBox="1"/>
          <p:nvPr/>
        </p:nvSpPr>
        <p:spPr>
          <a:xfrm>
            <a:off x="594360" y="1783080"/>
            <a:ext cx="3749039" cy="3246120"/>
          </a:xfrm>
          <a:prstGeom prst="rect">
            <a:avLst/>
          </a:prstGeom>
          <a:noFill/>
        </p:spPr>
        <p:txBody>
          <a:bodyPr wrap="square" lIns="45720" tIns="18288" rIns="45720" bIns="18288"/>
          <a:lstStyle/>
          <a:p>
            <a:pPr algn="l"/>
            <a:r>
              <a:rPr sz="1800" b="0">
                <a:solidFill>
                  <a:srgbClr val="2D2D2D"/>
                </a:solidFill>
                <a:latin typeface="Arial"/>
              </a:rPr>
              <a:t>Se revisa una pequeña ventana de instrucciones. El programa elimina operaciones que no modifican el resultado, como mover un registro hacia sí mismo o sumar cero.</a:t>
            </a:r>
          </a:p>
        </p:txBody>
      </p:sp>
      <p:sp>
        <p:nvSpPr>
          <p:cNvPr id="6" name="TextBox 5"/>
          <p:cNvSpPr txBox="1"/>
          <p:nvPr/>
        </p:nvSpPr>
        <p:spPr>
          <a:xfrm>
            <a:off x="594360" y="5394960"/>
            <a:ext cx="3749039" cy="640080"/>
          </a:xfrm>
          <a:prstGeom prst="rect">
            <a:avLst/>
          </a:prstGeom>
          <a:noFill/>
        </p:spPr>
        <p:txBody>
          <a:bodyPr wrap="square" lIns="45720" tIns="18288" rIns="45720" bIns="18288"/>
          <a:lstStyle/>
          <a:p>
            <a:pPr algn="l"/>
            <a:endParaRPr sz="1600" b="0" dirty="0">
              <a:solidFill>
                <a:srgbClr val="525252"/>
              </a:solidFill>
              <a:latin typeface="Arial"/>
            </a:endParaRPr>
          </a:p>
        </p:txBody>
      </p:sp>
      <p:pic>
        <p:nvPicPr>
          <p:cNvPr id="7" name="Picture 6" descr="mirilla.png"/>
          <p:cNvPicPr>
            <a:picLocks noChangeAspect="1"/>
          </p:cNvPicPr>
          <p:nvPr/>
        </p:nvPicPr>
        <p:blipFill>
          <a:blip r:embed="rId2"/>
          <a:stretch>
            <a:fillRect/>
          </a:stretch>
        </p:blipFill>
        <p:spPr>
          <a:xfrm>
            <a:off x="4572000" y="2612876"/>
            <a:ext cx="7178040" cy="21808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Ejercicio</a:t>
            </a:r>
            <a:r>
              <a:rPr sz="2200" b="1" dirty="0">
                <a:latin typeface="Arial"/>
              </a:rPr>
              <a:t> 5. Costos de </a:t>
            </a:r>
            <a:r>
              <a:rPr sz="2200" b="1" dirty="0" err="1">
                <a:latin typeface="Arial"/>
              </a:rPr>
              <a:t>ejecución</a:t>
            </a:r>
            <a:endParaRPr sz="2200" b="1" dirty="0">
              <a:latin typeface="Arial"/>
            </a:endParaRPr>
          </a:p>
        </p:txBody>
      </p:sp>
      <p:sp>
        <p:nvSpPr>
          <p:cNvPr id="4" name="TextBox 3"/>
          <p:cNvSpPr txBox="1"/>
          <p:nvPr/>
        </p:nvSpPr>
        <p:spPr>
          <a:xfrm>
            <a:off x="594360" y="914400"/>
            <a:ext cx="3749039" cy="731520"/>
          </a:xfrm>
          <a:prstGeom prst="rect">
            <a:avLst/>
          </a:prstGeom>
          <a:noFill/>
        </p:spPr>
        <p:txBody>
          <a:bodyPr wrap="square" lIns="45720" tIns="18288" rIns="45720" bIns="18288"/>
          <a:lstStyle/>
          <a:p>
            <a:pPr algn="l"/>
            <a:r>
              <a:rPr sz="1800" b="1" dirty="0">
                <a:latin typeface="Arial"/>
              </a:rPr>
              <a:t>Tema: </a:t>
            </a:r>
            <a:r>
              <a:rPr sz="1800" b="1" dirty="0" err="1">
                <a:latin typeface="Arial"/>
              </a:rPr>
              <a:t>memoria</a:t>
            </a:r>
            <a:r>
              <a:rPr sz="1800" b="1" dirty="0">
                <a:latin typeface="Arial"/>
              </a:rPr>
              <a:t>, </a:t>
            </a:r>
            <a:r>
              <a:rPr sz="1800" b="1" dirty="0" err="1">
                <a:latin typeface="Arial"/>
              </a:rPr>
              <a:t>registros</a:t>
            </a:r>
            <a:r>
              <a:rPr sz="1800" b="1" dirty="0">
                <a:latin typeface="Arial"/>
              </a:rPr>
              <a:t> y pila</a:t>
            </a:r>
          </a:p>
        </p:txBody>
      </p:sp>
      <p:sp>
        <p:nvSpPr>
          <p:cNvPr id="5" name="TextBox 4"/>
          <p:cNvSpPr txBox="1"/>
          <p:nvPr/>
        </p:nvSpPr>
        <p:spPr>
          <a:xfrm>
            <a:off x="594360" y="1783080"/>
            <a:ext cx="3749039" cy="3246120"/>
          </a:xfrm>
          <a:prstGeom prst="rect">
            <a:avLst/>
          </a:prstGeom>
          <a:noFill/>
        </p:spPr>
        <p:txBody>
          <a:bodyPr wrap="square" lIns="45720" tIns="18288" rIns="45720" bIns="18288"/>
          <a:lstStyle/>
          <a:p>
            <a:pPr algn="l"/>
            <a:r>
              <a:rPr sz="1800" b="0">
                <a:solidFill>
                  <a:srgbClr val="2D2D2D"/>
                </a:solidFill>
                <a:latin typeface="Arial"/>
              </a:rPr>
              <a:t>El programa calcula un costo estimado considerando accesos a memoria, operaciones ALU, uso de pila y registros. Esto ayuda a comparar qué código consume más recursos.</a:t>
            </a:r>
          </a:p>
        </p:txBody>
      </p:sp>
      <p:sp>
        <p:nvSpPr>
          <p:cNvPr id="6" name="TextBox 5"/>
          <p:cNvSpPr txBox="1"/>
          <p:nvPr/>
        </p:nvSpPr>
        <p:spPr>
          <a:xfrm>
            <a:off x="594360" y="5394960"/>
            <a:ext cx="3749039" cy="640080"/>
          </a:xfrm>
          <a:prstGeom prst="rect">
            <a:avLst/>
          </a:prstGeom>
          <a:noFill/>
        </p:spPr>
        <p:txBody>
          <a:bodyPr wrap="square" lIns="45720" tIns="18288" rIns="45720" bIns="18288"/>
          <a:lstStyle/>
          <a:p>
            <a:pPr algn="l"/>
            <a:endParaRPr sz="1600" b="0" dirty="0">
              <a:solidFill>
                <a:srgbClr val="525252"/>
              </a:solidFill>
              <a:latin typeface="Arial"/>
            </a:endParaRPr>
          </a:p>
        </p:txBody>
      </p:sp>
      <p:pic>
        <p:nvPicPr>
          <p:cNvPr id="7" name="Picture 6" descr="costos.png"/>
          <p:cNvPicPr>
            <a:picLocks noChangeAspect="1"/>
          </p:cNvPicPr>
          <p:nvPr/>
        </p:nvPicPr>
        <p:blipFill>
          <a:blip r:embed="rId2"/>
          <a:stretch>
            <a:fillRect/>
          </a:stretch>
        </p:blipFill>
        <p:spPr>
          <a:xfrm>
            <a:off x="4572000" y="2634341"/>
            <a:ext cx="7178040" cy="21379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Ejercicio</a:t>
            </a:r>
            <a:r>
              <a:rPr sz="2200" b="1" dirty="0">
                <a:latin typeface="Arial"/>
              </a:rPr>
              <a:t> 6. </a:t>
            </a:r>
            <a:r>
              <a:rPr sz="2200" b="1" dirty="0" err="1">
                <a:latin typeface="Arial"/>
              </a:rPr>
              <a:t>Criterios</a:t>
            </a:r>
            <a:r>
              <a:rPr sz="2200" b="1" dirty="0">
                <a:latin typeface="Arial"/>
              </a:rPr>
              <a:t> para </a:t>
            </a:r>
            <a:r>
              <a:rPr sz="2200" b="1" dirty="0" err="1">
                <a:latin typeface="Arial"/>
              </a:rPr>
              <a:t>mejorar</a:t>
            </a:r>
            <a:r>
              <a:rPr sz="2200" b="1" dirty="0">
                <a:latin typeface="Arial"/>
              </a:rPr>
              <a:t> </a:t>
            </a:r>
            <a:r>
              <a:rPr sz="2200" b="1" dirty="0" err="1">
                <a:latin typeface="Arial"/>
              </a:rPr>
              <a:t>el</a:t>
            </a:r>
            <a:r>
              <a:rPr sz="2200" b="1" dirty="0">
                <a:latin typeface="Arial"/>
              </a:rPr>
              <a:t> </a:t>
            </a:r>
            <a:r>
              <a:rPr sz="2200" b="1" dirty="0" err="1">
                <a:latin typeface="Arial"/>
              </a:rPr>
              <a:t>código</a:t>
            </a:r>
            <a:endParaRPr sz="2200" b="1" dirty="0">
              <a:latin typeface="Arial"/>
            </a:endParaRPr>
          </a:p>
        </p:txBody>
      </p:sp>
      <p:sp>
        <p:nvSpPr>
          <p:cNvPr id="4" name="TextBox 3"/>
          <p:cNvSpPr txBox="1"/>
          <p:nvPr/>
        </p:nvSpPr>
        <p:spPr>
          <a:xfrm>
            <a:off x="594360" y="914400"/>
            <a:ext cx="3749039" cy="731520"/>
          </a:xfrm>
          <a:prstGeom prst="rect">
            <a:avLst/>
          </a:prstGeom>
          <a:noFill/>
        </p:spPr>
        <p:txBody>
          <a:bodyPr wrap="square" lIns="45720" tIns="18288" rIns="45720" bIns="18288"/>
          <a:lstStyle/>
          <a:p>
            <a:pPr algn="l"/>
            <a:r>
              <a:rPr sz="1800" b="1" dirty="0">
                <a:latin typeface="Arial"/>
              </a:rPr>
              <a:t>Tema: </a:t>
            </a:r>
            <a:r>
              <a:rPr sz="1800" b="1" dirty="0" err="1">
                <a:latin typeface="Arial"/>
              </a:rPr>
              <a:t>reglas</a:t>
            </a:r>
            <a:r>
              <a:rPr sz="1800" b="1" dirty="0">
                <a:latin typeface="Arial"/>
              </a:rPr>
              <a:t> </a:t>
            </a:r>
            <a:r>
              <a:rPr sz="1800" b="1" dirty="0" err="1">
                <a:latin typeface="Arial"/>
              </a:rPr>
              <a:t>generales</a:t>
            </a:r>
            <a:r>
              <a:rPr sz="1800" b="1" dirty="0">
                <a:latin typeface="Arial"/>
              </a:rPr>
              <a:t> de </a:t>
            </a:r>
            <a:r>
              <a:rPr sz="1800" b="1" dirty="0" err="1">
                <a:latin typeface="Arial"/>
              </a:rPr>
              <a:t>optimización</a:t>
            </a:r>
            <a:endParaRPr sz="1800" b="1" dirty="0">
              <a:latin typeface="Arial"/>
            </a:endParaRPr>
          </a:p>
        </p:txBody>
      </p:sp>
      <p:sp>
        <p:nvSpPr>
          <p:cNvPr id="5" name="TextBox 4"/>
          <p:cNvSpPr txBox="1"/>
          <p:nvPr/>
        </p:nvSpPr>
        <p:spPr>
          <a:xfrm>
            <a:off x="594360" y="1783080"/>
            <a:ext cx="3749039" cy="3246120"/>
          </a:xfrm>
          <a:prstGeom prst="rect">
            <a:avLst/>
          </a:prstGeom>
          <a:noFill/>
        </p:spPr>
        <p:txBody>
          <a:bodyPr wrap="square" lIns="45720" tIns="18288" rIns="45720" bIns="18288"/>
          <a:lstStyle/>
          <a:p>
            <a:pPr algn="l"/>
            <a:r>
              <a:rPr sz="1800" b="0">
                <a:solidFill>
                  <a:srgbClr val="2D2D2D"/>
                </a:solidFill>
                <a:latin typeface="Arial"/>
              </a:rPr>
              <a:t>Se muestran criterios como reducir instrucciones innecesarias, evitar cálculos repetidos, disminuir accesos a memoria y reutilizar registros o resultados temporales.</a:t>
            </a:r>
          </a:p>
        </p:txBody>
      </p:sp>
      <p:sp>
        <p:nvSpPr>
          <p:cNvPr id="6" name="TextBox 5"/>
          <p:cNvSpPr txBox="1"/>
          <p:nvPr/>
        </p:nvSpPr>
        <p:spPr>
          <a:xfrm>
            <a:off x="594360" y="5394960"/>
            <a:ext cx="3749039" cy="640080"/>
          </a:xfrm>
          <a:prstGeom prst="rect">
            <a:avLst/>
          </a:prstGeom>
          <a:noFill/>
        </p:spPr>
        <p:txBody>
          <a:bodyPr wrap="square" lIns="45720" tIns="18288" rIns="45720" bIns="18288"/>
          <a:lstStyle/>
          <a:p>
            <a:pPr algn="l"/>
            <a:endParaRPr sz="1600" b="0" dirty="0">
              <a:solidFill>
                <a:srgbClr val="525252"/>
              </a:solidFill>
              <a:latin typeface="Arial"/>
            </a:endParaRPr>
          </a:p>
        </p:txBody>
      </p:sp>
      <p:pic>
        <p:nvPicPr>
          <p:cNvPr id="7" name="Picture 6" descr="criterios.png"/>
          <p:cNvPicPr>
            <a:picLocks noChangeAspect="1"/>
          </p:cNvPicPr>
          <p:nvPr/>
        </p:nvPicPr>
        <p:blipFill>
          <a:blip r:embed="rId2"/>
          <a:stretch>
            <a:fillRect/>
          </a:stretch>
        </p:blipFill>
        <p:spPr>
          <a:xfrm>
            <a:off x="4572000" y="2612876"/>
            <a:ext cx="7178040" cy="21808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Ejercicio</a:t>
            </a:r>
            <a:r>
              <a:rPr sz="2200" b="1" dirty="0">
                <a:latin typeface="Arial"/>
              </a:rPr>
              <a:t> 7. </a:t>
            </a:r>
            <a:r>
              <a:rPr sz="2200" b="1" dirty="0" err="1">
                <a:latin typeface="Arial"/>
              </a:rPr>
              <a:t>Análisis</a:t>
            </a:r>
            <a:r>
              <a:rPr sz="2200" b="1" dirty="0">
                <a:latin typeface="Arial"/>
              </a:rPr>
              <a:t> de </a:t>
            </a:r>
            <a:r>
              <a:rPr sz="2200" b="1" dirty="0" err="1">
                <a:latin typeface="Arial"/>
              </a:rPr>
              <a:t>flujo</a:t>
            </a:r>
            <a:r>
              <a:rPr sz="2200" b="1" dirty="0">
                <a:latin typeface="Arial"/>
              </a:rPr>
              <a:t> de </a:t>
            </a:r>
            <a:r>
              <a:rPr sz="2200" b="1" dirty="0" err="1">
                <a:latin typeface="Arial"/>
              </a:rPr>
              <a:t>datos</a:t>
            </a:r>
            <a:endParaRPr sz="2200" b="1" dirty="0">
              <a:latin typeface="Arial"/>
            </a:endParaRPr>
          </a:p>
        </p:txBody>
      </p:sp>
      <p:sp>
        <p:nvSpPr>
          <p:cNvPr id="4" name="TextBox 3"/>
          <p:cNvSpPr txBox="1"/>
          <p:nvPr/>
        </p:nvSpPr>
        <p:spPr>
          <a:xfrm>
            <a:off x="594360" y="914400"/>
            <a:ext cx="3749039" cy="731520"/>
          </a:xfrm>
          <a:prstGeom prst="rect">
            <a:avLst/>
          </a:prstGeom>
          <a:noFill/>
        </p:spPr>
        <p:txBody>
          <a:bodyPr wrap="square" lIns="45720" tIns="18288" rIns="45720" bIns="18288"/>
          <a:lstStyle/>
          <a:p>
            <a:pPr algn="l"/>
            <a:r>
              <a:rPr sz="1800" b="1" dirty="0">
                <a:latin typeface="Arial"/>
              </a:rPr>
              <a:t>Tema: </a:t>
            </a:r>
            <a:r>
              <a:rPr sz="1800" b="1" dirty="0" err="1">
                <a:latin typeface="Arial"/>
              </a:rPr>
              <a:t>tabla</a:t>
            </a:r>
            <a:r>
              <a:rPr sz="1800" b="1" dirty="0">
                <a:latin typeface="Arial"/>
              </a:rPr>
              <a:t> DEF/USE</a:t>
            </a:r>
          </a:p>
        </p:txBody>
      </p:sp>
      <p:sp>
        <p:nvSpPr>
          <p:cNvPr id="5" name="TextBox 4"/>
          <p:cNvSpPr txBox="1"/>
          <p:nvPr/>
        </p:nvSpPr>
        <p:spPr>
          <a:xfrm>
            <a:off x="594360" y="1783080"/>
            <a:ext cx="3749039" cy="3246120"/>
          </a:xfrm>
          <a:prstGeom prst="rect">
            <a:avLst/>
          </a:prstGeom>
          <a:noFill/>
        </p:spPr>
        <p:txBody>
          <a:bodyPr wrap="square" lIns="45720" tIns="18288" rIns="45720" bIns="18288"/>
          <a:lstStyle/>
          <a:p>
            <a:pPr algn="l"/>
            <a:r>
              <a:rPr sz="1800" b="0">
                <a:solidFill>
                  <a:srgbClr val="2D2D2D"/>
                </a:solidFill>
                <a:latin typeface="Arial"/>
              </a:rPr>
              <a:t>El programa muestra dónde se define y dónde se utiliza cada variable. Esta información ayuda a detectar dependencias y posibles mejoras dentro del código.</a:t>
            </a:r>
          </a:p>
        </p:txBody>
      </p:sp>
      <p:sp>
        <p:nvSpPr>
          <p:cNvPr id="6" name="TextBox 5"/>
          <p:cNvSpPr txBox="1"/>
          <p:nvPr/>
        </p:nvSpPr>
        <p:spPr>
          <a:xfrm>
            <a:off x="594360" y="5394960"/>
            <a:ext cx="3749039" cy="640080"/>
          </a:xfrm>
          <a:prstGeom prst="rect">
            <a:avLst/>
          </a:prstGeom>
          <a:noFill/>
        </p:spPr>
        <p:txBody>
          <a:bodyPr wrap="square" lIns="45720" tIns="18288" rIns="45720" bIns="18288"/>
          <a:lstStyle/>
          <a:p>
            <a:pPr algn="l"/>
            <a:endParaRPr sz="1600" b="0" dirty="0">
              <a:solidFill>
                <a:srgbClr val="525252"/>
              </a:solidFill>
              <a:latin typeface="Arial"/>
            </a:endParaRPr>
          </a:p>
        </p:txBody>
      </p:sp>
      <p:pic>
        <p:nvPicPr>
          <p:cNvPr id="7" name="Picture 6" descr="flujo.png"/>
          <p:cNvPicPr>
            <a:picLocks noChangeAspect="1"/>
          </p:cNvPicPr>
          <p:nvPr/>
        </p:nvPicPr>
        <p:blipFill>
          <a:blip r:embed="rId2"/>
          <a:stretch>
            <a:fillRect/>
          </a:stretch>
        </p:blipFill>
        <p:spPr>
          <a:xfrm>
            <a:off x="4572000" y="2634341"/>
            <a:ext cx="7178040" cy="21379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Ejercicio</a:t>
            </a:r>
            <a:r>
              <a:rPr sz="2200" b="1" dirty="0">
                <a:latin typeface="Arial"/>
              </a:rPr>
              <a:t> 8. </a:t>
            </a:r>
            <a:r>
              <a:rPr sz="2200" b="1" dirty="0" err="1">
                <a:latin typeface="Arial"/>
              </a:rPr>
              <a:t>Ejemplo</a:t>
            </a:r>
            <a:r>
              <a:rPr sz="2200" b="1" dirty="0">
                <a:latin typeface="Arial"/>
              </a:rPr>
              <a:t> </a:t>
            </a:r>
            <a:r>
              <a:rPr sz="2200" b="1" dirty="0" err="1">
                <a:latin typeface="Arial"/>
              </a:rPr>
              <a:t>completo</a:t>
            </a:r>
            <a:endParaRPr sz="2200" b="1" dirty="0">
              <a:latin typeface="Arial"/>
            </a:endParaRPr>
          </a:p>
        </p:txBody>
      </p:sp>
      <p:sp>
        <p:nvSpPr>
          <p:cNvPr id="4" name="TextBox 3"/>
          <p:cNvSpPr txBox="1"/>
          <p:nvPr/>
        </p:nvSpPr>
        <p:spPr>
          <a:xfrm>
            <a:off x="594360" y="914400"/>
            <a:ext cx="3749039" cy="731520"/>
          </a:xfrm>
          <a:prstGeom prst="rect">
            <a:avLst/>
          </a:prstGeom>
          <a:noFill/>
        </p:spPr>
        <p:txBody>
          <a:bodyPr wrap="square" lIns="45720" tIns="18288" rIns="45720" bIns="18288"/>
          <a:lstStyle/>
          <a:p>
            <a:pPr algn="l"/>
            <a:r>
              <a:rPr sz="1800" b="1">
                <a:solidFill>
                  <a:srgbClr val="2363A6"/>
                </a:solidFill>
                <a:latin typeface="Arial"/>
              </a:rPr>
              <a:t>Tema: aplicación de varias optimizaciones</a:t>
            </a:r>
          </a:p>
        </p:txBody>
      </p:sp>
      <p:sp>
        <p:nvSpPr>
          <p:cNvPr id="5" name="TextBox 4"/>
          <p:cNvSpPr txBox="1"/>
          <p:nvPr/>
        </p:nvSpPr>
        <p:spPr>
          <a:xfrm>
            <a:off x="594360" y="1783080"/>
            <a:ext cx="3749039" cy="3246120"/>
          </a:xfrm>
          <a:prstGeom prst="rect">
            <a:avLst/>
          </a:prstGeom>
          <a:noFill/>
        </p:spPr>
        <p:txBody>
          <a:bodyPr wrap="square" lIns="45720" tIns="18288" rIns="45720" bIns="18288"/>
          <a:lstStyle/>
          <a:p>
            <a:pPr algn="l"/>
            <a:r>
              <a:rPr sz="1800" b="0">
                <a:solidFill>
                  <a:srgbClr val="2D2D2D"/>
                </a:solidFill>
                <a:latin typeface="Arial"/>
              </a:rPr>
              <a:t>Se integran optimización local, global y de mirilla. El código final conserva el mismo resultado, pero elimina operaciones redundantes y reduce el costo de ejecución.</a:t>
            </a:r>
          </a:p>
        </p:txBody>
      </p:sp>
      <p:sp>
        <p:nvSpPr>
          <p:cNvPr id="6" name="TextBox 5"/>
          <p:cNvSpPr txBox="1"/>
          <p:nvPr/>
        </p:nvSpPr>
        <p:spPr>
          <a:xfrm>
            <a:off x="594360" y="5394960"/>
            <a:ext cx="3749039" cy="640080"/>
          </a:xfrm>
          <a:prstGeom prst="rect">
            <a:avLst/>
          </a:prstGeom>
          <a:noFill/>
        </p:spPr>
        <p:txBody>
          <a:bodyPr wrap="square" lIns="45720" tIns="18288" rIns="45720" bIns="18288"/>
          <a:lstStyle/>
          <a:p>
            <a:pPr algn="l"/>
            <a:endParaRPr sz="1600" b="0" dirty="0">
              <a:solidFill>
                <a:srgbClr val="525252"/>
              </a:solidFill>
              <a:latin typeface="Arial"/>
            </a:endParaRPr>
          </a:p>
        </p:txBody>
      </p:sp>
      <p:pic>
        <p:nvPicPr>
          <p:cNvPr id="7" name="Picture 6" descr="completo.png"/>
          <p:cNvPicPr>
            <a:picLocks noChangeAspect="1"/>
          </p:cNvPicPr>
          <p:nvPr/>
        </p:nvPicPr>
        <p:blipFill>
          <a:blip r:embed="rId2"/>
          <a:stretch>
            <a:fillRect/>
          </a:stretch>
        </p:blipFill>
        <p:spPr>
          <a:xfrm>
            <a:off x="4572000" y="2612876"/>
            <a:ext cx="7178040" cy="218088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TextBox 2"/>
          <p:cNvSpPr txBox="1"/>
          <p:nvPr/>
        </p:nvSpPr>
        <p:spPr>
          <a:xfrm>
            <a:off x="502920" y="91440"/>
            <a:ext cx="11155680" cy="329184"/>
          </a:xfrm>
          <a:prstGeom prst="rect">
            <a:avLst/>
          </a:prstGeom>
          <a:noFill/>
        </p:spPr>
        <p:txBody>
          <a:bodyPr wrap="square" lIns="45720" tIns="18288" rIns="45720" bIns="18288"/>
          <a:lstStyle/>
          <a:p>
            <a:pPr algn="l"/>
            <a:r>
              <a:rPr sz="2200" b="1" dirty="0" err="1">
                <a:latin typeface="Arial"/>
              </a:rPr>
              <a:t>Conclusión</a:t>
            </a:r>
            <a:endParaRPr sz="2200" b="1" dirty="0">
              <a:latin typeface="Arial"/>
            </a:endParaRPr>
          </a:p>
        </p:txBody>
      </p:sp>
      <p:sp>
        <p:nvSpPr>
          <p:cNvPr id="4" name="TextBox 3"/>
          <p:cNvSpPr txBox="1"/>
          <p:nvPr/>
        </p:nvSpPr>
        <p:spPr>
          <a:xfrm>
            <a:off x="777240" y="1234440"/>
            <a:ext cx="10698480" cy="2286000"/>
          </a:xfrm>
          <a:prstGeom prst="rect">
            <a:avLst/>
          </a:prstGeom>
          <a:noFill/>
        </p:spPr>
        <p:txBody>
          <a:bodyPr wrap="square" lIns="45720" tIns="18288" rIns="45720" bIns="18288"/>
          <a:lstStyle/>
          <a:p>
            <a:pPr algn="l"/>
            <a:r>
              <a:rPr sz="2200" b="0">
                <a:solidFill>
                  <a:srgbClr val="2D2D2D"/>
                </a:solidFill>
                <a:latin typeface="Arial"/>
              </a:rPr>
              <a:t>Con este banco de ejercicios se logró comprobar el funcionamiento del programa de optimización desarrollado en Java. Cada ejercicio permitió observar una forma diferente de mejorar el código, ya sea reduciendo operaciones, eliminando instrucciones innecesarias, reutilizando resultados o analizando los costos de ejecución.</a:t>
            </a:r>
          </a:p>
        </p:txBody>
      </p:sp>
      <p:sp>
        <p:nvSpPr>
          <p:cNvPr id="5" name="TextBox 4"/>
          <p:cNvSpPr txBox="1"/>
          <p:nvPr/>
        </p:nvSpPr>
        <p:spPr>
          <a:xfrm>
            <a:off x="777240" y="3840480"/>
            <a:ext cx="10698480" cy="1645920"/>
          </a:xfrm>
          <a:prstGeom prst="rect">
            <a:avLst/>
          </a:prstGeom>
          <a:noFill/>
        </p:spPr>
        <p:txBody>
          <a:bodyPr wrap="square" lIns="45720" tIns="18288" rIns="45720" bIns="18288"/>
          <a:lstStyle/>
          <a:p>
            <a:pPr algn="l"/>
            <a:r>
              <a:rPr sz="2200" b="0">
                <a:solidFill>
                  <a:srgbClr val="2D2D2D"/>
                </a:solidFill>
                <a:latin typeface="Arial"/>
              </a:rPr>
              <a:t>En general, la práctica ayudó a comprender que la optimización no cambia el propósito del programa, sino que busca hacerlo más eficiente. Por eso es una etapa importante dentro del proceso de compilación y análisis de código.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659</Words>
  <Application>Microsoft Office PowerPoint</Application>
  <PresentationFormat>Panorámica</PresentationFormat>
  <Paragraphs>57</Paragraphs>
  <Slides>12</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2</cp:revision>
  <dcterms:created xsi:type="dcterms:W3CDTF">2013-01-27T09:14:16Z</dcterms:created>
  <dcterms:modified xsi:type="dcterms:W3CDTF">2026-09-21T19:08:14Z</dcterms:modified>
  <cp:category/>
</cp:coreProperties>
</file>