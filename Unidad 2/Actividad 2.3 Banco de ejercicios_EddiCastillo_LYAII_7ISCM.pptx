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8"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20024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72709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51147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55432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24689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55694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72196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1690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2744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7361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37260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9043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42880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35806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56107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42381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9646781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lang="es-ES" sz="1500" b="0" dirty="0">
                <a:solidFill>
                  <a:srgbClr val="181818"/>
                </a:solidFill>
                <a:latin typeface="Arial"/>
              </a:rPr>
              <a:t>Lenguajes y </a:t>
            </a:r>
            <a:r>
              <a:rPr lang="es-ES" sz="1500" b="0" dirty="0" err="1">
                <a:solidFill>
                  <a:srgbClr val="181818"/>
                </a:solidFill>
                <a:latin typeface="Arial"/>
              </a:rPr>
              <a:t>Automatas</a:t>
            </a:r>
            <a:r>
              <a:rPr lang="es-ES" sz="1500" b="0" dirty="0">
                <a:solidFill>
                  <a:srgbClr val="181818"/>
                </a:solidFill>
                <a:latin typeface="Arial"/>
              </a:rPr>
              <a:t> II</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a:t>
            </a:r>
            <a:r>
              <a:rPr lang="es-MX" sz="1500" b="0" dirty="0">
                <a:solidFill>
                  <a:srgbClr val="181818"/>
                </a:solidFill>
                <a:latin typeface="Arial"/>
              </a:rPr>
              <a:t>2</a:t>
            </a:r>
            <a:r>
              <a:rPr lang="es-MX" sz="1500" dirty="0">
                <a:solidFill>
                  <a:srgbClr val="181818"/>
                </a:solidFill>
                <a:latin typeface="Arial"/>
              </a:rPr>
              <a:t>.3 Banco de ejercicios</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a:solidFill>
                  <a:srgbClr val="181818"/>
                </a:solidFill>
                <a:latin typeface="Arial"/>
              </a:rPr>
              <a:t> 08 </a:t>
            </a:r>
            <a:r>
              <a:rPr lang="es-MX" sz="1500" dirty="0">
                <a:solidFill>
                  <a:srgbClr val="181818"/>
                </a:solidFill>
                <a:latin typeface="Arial"/>
              </a:rPr>
              <a:t>de </a:t>
            </a:r>
            <a:r>
              <a:rPr sz="1500" b="0" dirty="0" err="1">
                <a:solidFill>
                  <a:srgbClr val="181818"/>
                </a:solidFill>
                <a:latin typeface="Arial"/>
              </a:rPr>
              <a:t>septiembre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Introducción</a:t>
            </a:r>
          </a:p>
        </p:txBody>
      </p:sp>
      <p:sp>
        <p:nvSpPr>
          <p:cNvPr id="3" name="TextBox 2"/>
          <p:cNvSpPr txBox="1"/>
          <p:nvPr/>
        </p:nvSpPr>
        <p:spPr>
          <a:xfrm>
            <a:off x="640080" y="1188720"/>
            <a:ext cx="10972800" cy="2011680"/>
          </a:xfrm>
          <a:prstGeom prst="rect">
            <a:avLst/>
          </a:prstGeom>
          <a:noFill/>
        </p:spPr>
        <p:txBody>
          <a:bodyPr wrap="square">
            <a:spAutoFit/>
          </a:bodyPr>
          <a:lstStyle/>
          <a:p>
            <a:pPr algn="l">
              <a:defRPr sz="2000" b="0">
                <a:solidFill>
                  <a:srgbClr val="373737"/>
                </a:solidFill>
                <a:latin typeface="Arial"/>
              </a:defRPr>
            </a:pPr>
            <a:r>
              <a:t>La generación de código intermedio permite transformar expresiones e instrucciones en representaciones que facilitan su análisis antes de llegar al código final. Para esta práctica se desarrolló un analizador en Java que convierte expresiones y asignaciones a notación prefija, infija y postfija, además de mostrar código P, triplos y cuádruplos.</a:t>
            </a:r>
          </a:p>
        </p:txBody>
      </p:sp>
      <p:sp>
        <p:nvSpPr>
          <p:cNvPr id="4" name="TextBox 3"/>
          <p:cNvSpPr txBox="1"/>
          <p:nvPr/>
        </p:nvSpPr>
        <p:spPr>
          <a:xfrm>
            <a:off x="640080" y="3383280"/>
            <a:ext cx="10972800" cy="1463040"/>
          </a:xfrm>
          <a:prstGeom prst="rect">
            <a:avLst/>
          </a:prstGeom>
          <a:noFill/>
        </p:spPr>
        <p:txBody>
          <a:bodyPr wrap="square">
            <a:spAutoFit/>
          </a:bodyPr>
          <a:lstStyle/>
          <a:p>
            <a:pPr algn="l">
              <a:defRPr sz="2000" b="0">
                <a:solidFill>
                  <a:srgbClr val="373737"/>
                </a:solidFill>
                <a:latin typeface="Arial"/>
              </a:defRPr>
            </a:pPr>
            <a:r>
              <a:t>También se trabajaron ejemplos relacionados con instrucciones de control y funciones.</a:t>
            </a:r>
          </a:p>
          <a:p>
            <a:pPr algn="l">
              <a:defRPr sz="2000" b="0">
                <a:solidFill>
                  <a:srgbClr val="373737"/>
                </a:solidFill>
                <a:latin typeface="Arial"/>
              </a:defRPr>
            </a:pPr>
            <a:r>
              <a:t>Las siguientes capturas muestran el funcionamiento del programa dentro de IntelliJ IDEA.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Justificación</a:t>
            </a:r>
          </a:p>
        </p:txBody>
      </p:sp>
      <p:sp>
        <p:nvSpPr>
          <p:cNvPr id="3" name="TextBox 2"/>
          <p:cNvSpPr txBox="1"/>
          <p:nvPr/>
        </p:nvSpPr>
        <p:spPr>
          <a:xfrm>
            <a:off x="640080" y="1280160"/>
            <a:ext cx="10972800" cy="2103120"/>
          </a:xfrm>
          <a:prstGeom prst="rect">
            <a:avLst/>
          </a:prstGeom>
          <a:noFill/>
        </p:spPr>
        <p:txBody>
          <a:bodyPr wrap="square">
            <a:spAutoFit/>
          </a:bodyPr>
          <a:lstStyle/>
          <a:p>
            <a:pPr algn="l">
              <a:defRPr sz="2000" b="0">
                <a:solidFill>
                  <a:srgbClr val="373737"/>
                </a:solidFill>
                <a:latin typeface="Arial"/>
              </a:defRPr>
            </a:pPr>
            <a:r>
              <a:t>Este banco de ejercicios se elaboró con la finalidad de comprobar de forma práctica cómo se aplica la generación de código intermedio en diferentes casos. Además, permite observar que el programa desarrollado sí analiza expresiones aritméticas, instrucciones de asignación y estructuras de control, generando resultados claros y comprensibles.</a:t>
            </a:r>
          </a:p>
        </p:txBody>
      </p:sp>
      <p:sp>
        <p:nvSpPr>
          <p:cNvPr id="4" name="TextBox 3"/>
          <p:cNvSpPr txBox="1"/>
          <p:nvPr/>
        </p:nvSpPr>
        <p:spPr>
          <a:xfrm>
            <a:off x="640080" y="3749039"/>
            <a:ext cx="10972800" cy="1371600"/>
          </a:xfrm>
          <a:prstGeom prst="rect">
            <a:avLst/>
          </a:prstGeom>
          <a:noFill/>
        </p:spPr>
        <p:txBody>
          <a:bodyPr wrap="square">
            <a:spAutoFit/>
          </a:bodyPr>
          <a:lstStyle/>
          <a:p>
            <a:pPr algn="l">
              <a:defRPr sz="2000" b="0">
                <a:solidFill>
                  <a:srgbClr val="373737"/>
                </a:solidFill>
                <a:latin typeface="Arial"/>
              </a:defRPr>
            </a:pPr>
            <a:r>
              <a:t>El uso de capturas sirve como evidencia del funcionamiento real del analizador y ayuda a relacionar la teoría con la ejecución del programa.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1. Notación prefija</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a + b * c</a:t>
            </a:r>
          </a:p>
        </p:txBody>
      </p:sp>
      <p:pic>
        <p:nvPicPr>
          <p:cNvPr id="4" name="Picture 3" descr="wide_screenshot_of_a_dark_themed_intellij_idea_je_1.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En este ejercicio se analizó una expresión aritmética simple. El programa mostró la conversión a notación prefija, postfija, polaca, código P, triplos y cuádruplos.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2. Notación infija</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(a + b) * c</a:t>
            </a:r>
          </a:p>
        </p:txBody>
      </p:sp>
      <p:pic>
        <p:nvPicPr>
          <p:cNvPr id="4" name="Picture 3" descr="a_wide_screenshot_of_a_dark_themed_intellij_idea_2_batch_1.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Este ejercicio permitió observar cómo el analizador respeta el uso de paréntesis y conserva la estructura de la expresión infija antes de generar las demás representaciones intermedias.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3. Notación postfija</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x + y * 5</a:t>
            </a:r>
          </a:p>
        </p:txBody>
      </p:sp>
      <p:pic>
        <p:nvPicPr>
          <p:cNvPr id="4" name="Picture 3" descr="a_wide_screenshot_of_a_dark_themed_intellij_idea_l_3_batch_2.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La captura muestra el resultado de la expresión y destaca la obtención de la notación postfija, además del resto de representaciones generadas automáticamente por el programa.</a:t>
            </a:r>
          </a:p>
        </p:txBody>
      </p:sp>
      <p:sp>
        <p:nvSpPr>
          <p:cNvPr id="6" name="TextBox 5"/>
          <p:cNvSpPr txBox="1"/>
          <p:nvPr/>
        </p:nvSpPr>
        <p:spPr>
          <a:xfrm>
            <a:off x="8229600" y="5440680"/>
            <a:ext cx="3291840" cy="457200"/>
          </a:xfrm>
          <a:prstGeom prst="rect">
            <a:avLst/>
          </a:prstGeom>
          <a:noFill/>
        </p:spPr>
        <p:txBody>
          <a:bodyPr wrap="square">
            <a:spAutoFit/>
          </a:bodyPr>
          <a:lstStyle/>
          <a:p>
            <a:pPr algn="l">
              <a:defRPr sz="1400" b="0">
                <a:solidFill>
                  <a:srgbClr val="1E55A0"/>
                </a:solidFill>
                <a:latin typeface="Arial"/>
              </a:defRPr>
            </a:pPr>
            <a:r>
              <a:t>Captura del resultado obtenido en IntelliJ IDEA.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4. Notación polaca</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m - n / 2</a:t>
            </a:r>
          </a:p>
        </p:txBody>
      </p:sp>
      <p:pic>
        <p:nvPicPr>
          <p:cNvPr id="4" name="Picture 3" descr="a_wide_desktop_screenshot_of_a_dark_themed_intelli_4_batch_3.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Aquí se puede observar la forma en que el programa obtiene la notación polaca o prefija, junto con la polaca inversa y el código intermedio correspondiente.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5. Código P</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a * b + 10</a:t>
            </a:r>
          </a:p>
        </p:txBody>
      </p:sp>
      <p:pic>
        <p:nvPicPr>
          <p:cNvPr id="4" name="Picture 3" descr="a_wide_screenshot_of_a_dark_themed_ide_intellij_i_5_batch_4.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En este caso se utilizó una expresión que permite mostrar con claridad la secuencia de instrucciones del código P, como LOAD, PUSH, MUL y ADD.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6. Triplos</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Asignación utilizada: resultado = a + b * 3</a:t>
            </a:r>
          </a:p>
        </p:txBody>
      </p:sp>
      <p:pic>
        <p:nvPicPr>
          <p:cNvPr id="4" name="Picture 3" descr="wide_screenshot_of_a_dark_themed_intellij_idea_lik_6_batch_5.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Este ejercicio se enfocó en la representación mediante triplos, donde se observa el índice de cada operación y la forma en que se relacionan los argumentos intermedios.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7. Cuádruplos</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Asignación utilizada: total = precio * cantidad + 20</a:t>
            </a:r>
          </a:p>
        </p:txBody>
      </p:sp>
      <p:pic>
        <p:nvPicPr>
          <p:cNvPr id="4" name="Picture 3" descr="wide_screenshot_of_a_dark_themed_intellij_idea_j_7_batch_6.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La asignación fue procesada para obtener cuádruplos, mostrando operador, argumentos y resultado temporal hasta llegar al almacenamiento del valor final.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8. Variables y constantes</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Asignación utilizada: promedio = calificacion + 10 / 2</a:t>
            </a:r>
          </a:p>
        </p:txBody>
      </p:sp>
      <p:pic>
        <p:nvPicPr>
          <p:cNvPr id="4" name="Picture 3" descr="a_wide_screenshot_of_a_dark_themed_intellij_idea_l_8_batch_7.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Además de las representaciones intermedias, el programa identificó correctamente las variables y constantes presentes en la expresión analizada.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9. Expresiones</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Expresión utilizada: (a + b) * (c - 4)</a:t>
            </a:r>
          </a:p>
        </p:txBody>
      </p:sp>
      <p:pic>
        <p:nvPicPr>
          <p:cNvPr id="4" name="Picture 3" descr="a_widescreen_desktop_screenshot_of_a_dark_themed_i_9_batch_8.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Este ejercicio integra varias operaciones y paréntesis. Sirve para comprobar que el analizador maneja adecuadamente la precedencia de operadores.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10. Instrucción de asignación</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Asignación utilizada: salario = horas * pago + bono</a:t>
            </a:r>
          </a:p>
        </p:txBody>
      </p:sp>
      <p:pic>
        <p:nvPicPr>
          <p:cNvPr id="4" name="Picture 3" descr="wide_screenshot_of_a_computer_screen_showing_a_dar_10_batch_9.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Se utilizó una instrucción de asignación completa para mostrar cómo el resultado de una operación puede almacenarse en una variable destino.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11. Instrucción de control IF</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Condición utilizada: a &gt; b   |   Instrucción: mayor = a + 1</a:t>
            </a:r>
          </a:p>
        </p:txBody>
      </p:sp>
      <p:pic>
        <p:nvPicPr>
          <p:cNvPr id="4" name="Picture 3" descr="a_wide_screenshot_of_a_dark_themed_intellij_idea_i_1_batch_1.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La imagen presenta la generación de código intermedio para una estructura IF, donde se analiza la condición y luego se ejecuta una instrucción si esta se cumple.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12. Instrucción de control WHILE</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Condición utilizada: contador &lt; 5   |   Instrucción: contador = contador + 1</a:t>
            </a:r>
          </a:p>
        </p:txBody>
      </p:sp>
      <p:pic>
        <p:nvPicPr>
          <p:cNvPr id="4" name="Picture 3" descr="a_widescreen_screenshot_of_a_dark_themed_intellij_2_batch_2.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La captura muestra el código intermedio de un ciclo WHILE, con etiquetas y saltos que permiten repetir una instrucción mientras la condición sea verdadera.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Ejercicio 13. Funciones</a:t>
            </a:r>
          </a:p>
        </p:txBody>
      </p:sp>
      <p:sp>
        <p:nvSpPr>
          <p:cNvPr id="3" name="TextBox 2"/>
          <p:cNvSpPr txBox="1"/>
          <p:nvPr/>
        </p:nvSpPr>
        <p:spPr>
          <a:xfrm>
            <a:off x="502920" y="914400"/>
            <a:ext cx="11064240" cy="548640"/>
          </a:xfrm>
          <a:prstGeom prst="rect">
            <a:avLst/>
          </a:prstGeom>
          <a:noFill/>
        </p:spPr>
        <p:txBody>
          <a:bodyPr wrap="square">
            <a:spAutoFit/>
          </a:bodyPr>
          <a:lstStyle/>
          <a:p>
            <a:pPr algn="l">
              <a:defRPr sz="1800" b="1">
                <a:solidFill>
                  <a:srgbClr val="1E55A0"/>
                </a:solidFill>
                <a:latin typeface="Arial"/>
              </a:defRPr>
            </a:pPr>
            <a:r>
              <a:t>Ejemplo utilizado: resultado = suma(a, b)</a:t>
            </a:r>
          </a:p>
        </p:txBody>
      </p:sp>
      <p:pic>
        <p:nvPicPr>
          <p:cNvPr id="4" name="Picture 3" descr="wide_screenshot_of_a_dark_themed_intellij_idea_ide_3_batch_3.png"/>
          <p:cNvPicPr>
            <a:picLocks noChangeAspect="1"/>
          </p:cNvPicPr>
          <p:nvPr/>
        </p:nvPicPr>
        <p:blipFill>
          <a:blip r:embed="rId2"/>
          <a:stretch>
            <a:fillRect/>
          </a:stretch>
        </p:blipFill>
        <p:spPr>
          <a:xfrm>
            <a:off x="548640" y="1508760"/>
            <a:ext cx="7498079" cy="4224528"/>
          </a:xfrm>
          <a:prstGeom prst="rect">
            <a:avLst/>
          </a:prstGeom>
        </p:spPr>
      </p:pic>
      <p:sp>
        <p:nvSpPr>
          <p:cNvPr id="5" name="TextBox 4"/>
          <p:cNvSpPr txBox="1"/>
          <p:nvPr/>
        </p:nvSpPr>
        <p:spPr>
          <a:xfrm>
            <a:off x="8229600" y="1645920"/>
            <a:ext cx="3291840" cy="3840480"/>
          </a:xfrm>
          <a:prstGeom prst="rect">
            <a:avLst/>
          </a:prstGeom>
          <a:noFill/>
        </p:spPr>
        <p:txBody>
          <a:bodyPr wrap="square">
            <a:spAutoFit/>
          </a:bodyPr>
          <a:lstStyle/>
          <a:p>
            <a:pPr algn="l">
              <a:defRPr sz="1700" b="0">
                <a:solidFill>
                  <a:srgbClr val="373737"/>
                </a:solidFill>
                <a:latin typeface="Arial"/>
              </a:defRPr>
            </a:pPr>
            <a:r>
              <a:t>En este apartado se observa el ejemplo de función, donde se pasan parámetros y se representa la llamada en forma de código intermedio y cuádruplos.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r>
              <a:rPr sz="2400" b="1">
                <a:solidFill>
                  <a:srgbClr val="1C1C1C"/>
                </a:solidFill>
                <a:latin typeface="Arial"/>
              </a:rPr>
              <a:t>Conclusión</a:t>
            </a:r>
          </a:p>
        </p:txBody>
      </p:sp>
      <p:sp>
        <p:nvSpPr>
          <p:cNvPr id="3" name="TextBox 2"/>
          <p:cNvSpPr txBox="1"/>
          <p:nvPr/>
        </p:nvSpPr>
        <p:spPr>
          <a:xfrm>
            <a:off x="640080" y="1371600"/>
            <a:ext cx="10972800" cy="2011680"/>
          </a:xfrm>
          <a:prstGeom prst="rect">
            <a:avLst/>
          </a:prstGeom>
          <a:noFill/>
        </p:spPr>
        <p:txBody>
          <a:bodyPr wrap="square">
            <a:spAutoFit/>
          </a:bodyPr>
          <a:lstStyle/>
          <a:p>
            <a:pPr algn="l">
              <a:defRPr sz="2000" b="0">
                <a:solidFill>
                  <a:srgbClr val="373737"/>
                </a:solidFill>
                <a:latin typeface="Arial"/>
              </a:defRPr>
            </a:pPr>
            <a:r>
              <a:t>Con la elaboración de este banco de ejercicios se comprobó que el analizador desarrollado en Java funciona para distintos casos relacionados con la generación de código intermedio. A través de las capturas se pudo observar la conversión de expresiones a notaciones prefija, infija y postfija, así como la obtención de código P, triplos, cuádruplos y ejemplos de control y funciones.</a:t>
            </a:r>
          </a:p>
        </p:txBody>
      </p:sp>
      <p:sp>
        <p:nvSpPr>
          <p:cNvPr id="4" name="TextBox 3"/>
          <p:cNvSpPr txBox="1"/>
          <p:nvPr/>
        </p:nvSpPr>
        <p:spPr>
          <a:xfrm>
            <a:off x="640080" y="3657600"/>
            <a:ext cx="10972800" cy="1645920"/>
          </a:xfrm>
          <a:prstGeom prst="rect">
            <a:avLst/>
          </a:prstGeom>
          <a:noFill/>
        </p:spPr>
        <p:txBody>
          <a:bodyPr wrap="square">
            <a:spAutoFit/>
          </a:bodyPr>
          <a:lstStyle/>
          <a:p>
            <a:pPr algn="l">
              <a:defRPr sz="2000" b="0">
                <a:solidFill>
                  <a:srgbClr val="373737"/>
                </a:solidFill>
                <a:latin typeface="Arial"/>
              </a:defRPr>
            </a:pPr>
            <a:r>
              <a:t>En general, la práctica ayudó a comprender mejor cómo se representan internamente las operaciones antes de llegar al código final, y permitió relacionar la parte teórica con la implementación realizada en IntelliJ IDEA.</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874</Words>
  <Application>Microsoft Office PowerPoint</Application>
  <PresentationFormat>Panorámica</PresentationFormat>
  <Paragraphs>74</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2</cp:revision>
  <dcterms:created xsi:type="dcterms:W3CDTF">2013-01-27T09:14:16Z</dcterms:created>
  <dcterms:modified xsi:type="dcterms:W3CDTF">2026-09-21T18:08:27Z</dcterms:modified>
  <cp:category/>
</cp:coreProperties>
</file>