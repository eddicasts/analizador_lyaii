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4" r:id="rId2"/>
    <p:sldId id="257" r:id="rId3"/>
    <p:sldId id="258" r:id="rId4"/>
    <p:sldId id="276" r:id="rId5"/>
    <p:sldId id="277" r:id="rId6"/>
    <p:sldId id="278" r:id="rId7"/>
    <p:sldId id="279" r:id="rId8"/>
    <p:sldId id="280" r:id="rId9"/>
    <p:sldId id="281" r:id="rId10"/>
    <p:sldId id="282" r:id="rId11"/>
    <p:sldId id="272"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058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0ACF47F6-D6E6-F779-72D2-7998454BA259}"/>
              </a:ext>
            </a:extLst>
          </p:cNvPr>
          <p:cNvPicPr>
            <a:picLocks/>
          </p:cNvPicPr>
          <p:nvPr/>
        </p:nvPicPr>
        <p:blipFill>
          <a:blip r:embed="rId2" cstate="print"/>
          <a:stretch>
            <a:fillRect/>
          </a:stretch>
        </p:blipFill>
        <p:spPr>
          <a:xfrm>
            <a:off x="1070292" y="110606"/>
            <a:ext cx="2736215" cy="566420"/>
          </a:xfrm>
          <a:prstGeom prst="rect">
            <a:avLst/>
          </a:prstGeom>
        </p:spPr>
      </p:pic>
      <p:pic>
        <p:nvPicPr>
          <p:cNvPr id="3" name="Image 2">
            <a:extLst>
              <a:ext uri="{FF2B5EF4-FFF2-40B4-BE49-F238E27FC236}">
                <a16:creationId xmlns:a16="http://schemas.microsoft.com/office/drawing/2014/main" id="{59AB4131-ADA3-2181-5CA3-BCAE880BE235}"/>
              </a:ext>
            </a:extLst>
          </p:cNvPr>
          <p:cNvPicPr>
            <a:picLocks/>
          </p:cNvPicPr>
          <p:nvPr/>
        </p:nvPicPr>
        <p:blipFill>
          <a:blip r:embed="rId3" cstate="print"/>
          <a:stretch>
            <a:fillRect/>
          </a:stretch>
        </p:blipFill>
        <p:spPr>
          <a:xfrm>
            <a:off x="5673996" y="186547"/>
            <a:ext cx="1071880" cy="528320"/>
          </a:xfrm>
          <a:prstGeom prst="rect">
            <a:avLst/>
          </a:prstGeom>
        </p:spPr>
      </p:pic>
      <p:pic>
        <p:nvPicPr>
          <p:cNvPr id="4" name="Image 3">
            <a:extLst>
              <a:ext uri="{FF2B5EF4-FFF2-40B4-BE49-F238E27FC236}">
                <a16:creationId xmlns:a16="http://schemas.microsoft.com/office/drawing/2014/main" id="{6A94ADEF-8042-2861-DAA0-54A4A5B07478}"/>
              </a:ext>
            </a:extLst>
          </p:cNvPr>
          <p:cNvPicPr>
            <a:picLocks/>
          </p:cNvPicPr>
          <p:nvPr/>
        </p:nvPicPr>
        <p:blipFill>
          <a:blip r:embed="rId4" cstate="print"/>
          <a:stretch>
            <a:fillRect/>
          </a:stretch>
        </p:blipFill>
        <p:spPr>
          <a:xfrm>
            <a:off x="9179514" y="158891"/>
            <a:ext cx="756285" cy="523875"/>
          </a:xfrm>
          <a:prstGeom prst="rect">
            <a:avLst/>
          </a:prstGeom>
        </p:spPr>
      </p:pic>
      <p:sp>
        <p:nvSpPr>
          <p:cNvPr id="6" name="CuadroTexto 5">
            <a:extLst>
              <a:ext uri="{FF2B5EF4-FFF2-40B4-BE49-F238E27FC236}">
                <a16:creationId xmlns:a16="http://schemas.microsoft.com/office/drawing/2014/main" id="{FCACA373-3DDA-7FFB-7FA9-E80D6DB680E8}"/>
              </a:ext>
            </a:extLst>
          </p:cNvPr>
          <p:cNvSpPr txBox="1"/>
          <p:nvPr/>
        </p:nvSpPr>
        <p:spPr>
          <a:xfrm>
            <a:off x="1997945" y="753445"/>
            <a:ext cx="7625027" cy="5270674"/>
          </a:xfrm>
          <a:prstGeom prst="rect">
            <a:avLst/>
          </a:prstGeom>
          <a:noFill/>
        </p:spPr>
        <p:txBody>
          <a:bodyPr wrap="square">
            <a:spAutoFit/>
          </a:bodyPr>
          <a:lstStyle/>
          <a:p>
            <a:pPr marL="229870" marR="5080" algn="ctr">
              <a:spcBef>
                <a:spcPts val="1600"/>
              </a:spcBef>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TECNOLÓGICO</a:t>
            </a:r>
            <a:r>
              <a:rPr lang="en-US" sz="1200" b="1" spc="-4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NACIONAL</a:t>
            </a:r>
            <a:r>
              <a:rPr lang="en-US" sz="1200" b="1" spc="-7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3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MÉXICO</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10160" algn="ctr">
              <a:spcBef>
                <a:spcPts val="775"/>
              </a:spcBef>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INSTITUTO</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TECNOLÓGICO</a:t>
            </a:r>
            <a:r>
              <a:rPr lang="en-US" sz="1200" b="1" spc="-6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4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FRONTERA</a:t>
            </a:r>
            <a:r>
              <a:rPr lang="en-US" sz="1200" b="1" spc="-9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COMALAPA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8890"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1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LA</a:t>
            </a:r>
            <a:r>
              <a:rPr lang="en-US" sz="1200" b="1" spc="-7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MATERIA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4445" algn="ctr">
              <a:spcBef>
                <a:spcPts val="650"/>
              </a:spcBef>
              <a:spcAft>
                <a:spcPts val="1000"/>
              </a:spcAft>
            </a:pPr>
            <a:r>
              <a:rPr lang="es-ES" sz="1200" dirty="0">
                <a:effectLst/>
                <a:latin typeface="Arial" panose="020B0604020202020204" pitchFamily="34" charset="0"/>
                <a:ea typeface="Arial" panose="020B0604020202020204" pitchFamily="34" charset="0"/>
                <a:cs typeface="Times New Roman" panose="02020603050405020304" pitchFamily="18" charset="0"/>
              </a:rPr>
              <a:t>Lenguajes y autómatas II</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ESTUDIANTE</a:t>
            </a:r>
            <a:endParaRPr lang="es-MX" sz="700" b="1" spc="-10" dirty="0">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EDDI URIEL CASTILLO SÁNCHEZ</a:t>
            </a: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CARRERA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10160" algn="ctr">
              <a:spcBef>
                <a:spcPts val="780"/>
              </a:spcBef>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INGENIERÍA</a:t>
            </a:r>
            <a:r>
              <a:rPr lang="en-US" sz="1200" spc="-30" dirty="0">
                <a:effectLst/>
                <a:latin typeface="Arial" panose="020B0604020202020204" pitchFamily="34" charset="0"/>
                <a:ea typeface="Arial" panose="020B0604020202020204" pitchFamily="34" charset="0"/>
                <a:cs typeface="Times New Roman" panose="02020603050405020304" pitchFamily="18" charset="0"/>
              </a:rPr>
              <a:t> </a:t>
            </a:r>
            <a:r>
              <a:rPr lang="en-US" sz="1200" dirty="0">
                <a:effectLst/>
                <a:latin typeface="Arial" panose="020B0604020202020204" pitchFamily="34" charset="0"/>
                <a:ea typeface="Arial" panose="020B0604020202020204" pitchFamily="34" charset="0"/>
                <a:cs typeface="Times New Roman" panose="02020603050405020304" pitchFamily="18" charset="0"/>
              </a:rPr>
              <a:t>EN</a:t>
            </a:r>
            <a:r>
              <a:rPr lang="en-US" sz="1200" spc="-30" dirty="0">
                <a:effectLst/>
                <a:latin typeface="Arial" panose="020B0604020202020204" pitchFamily="34" charset="0"/>
                <a:ea typeface="Arial" panose="020B0604020202020204" pitchFamily="34" charset="0"/>
                <a:cs typeface="Times New Roman" panose="02020603050405020304" pitchFamily="18" charset="0"/>
              </a:rPr>
              <a:t> </a:t>
            </a:r>
            <a:r>
              <a:rPr lang="en-US" sz="1200" dirty="0">
                <a:effectLst/>
                <a:latin typeface="Arial" panose="020B0604020202020204" pitchFamily="34" charset="0"/>
                <a:ea typeface="Arial" panose="020B0604020202020204" pitchFamily="34" charset="0"/>
                <a:cs typeface="Times New Roman" panose="02020603050405020304" pitchFamily="18" charset="0"/>
              </a:rPr>
              <a:t>SISTEMAS</a:t>
            </a:r>
            <a:r>
              <a:rPr lang="en-US" sz="1200" spc="5" dirty="0">
                <a:effectLst/>
                <a:latin typeface="Arial" panose="020B0604020202020204" pitchFamily="34" charset="0"/>
                <a:ea typeface="Arial" panose="020B0604020202020204" pitchFamily="34" charset="0"/>
                <a:cs typeface="Times New Roman" panose="02020603050405020304" pitchFamily="18" charset="0"/>
              </a:rPr>
              <a:t> </a:t>
            </a:r>
            <a:r>
              <a:rPr lang="en-US" sz="1200" spc="-10" dirty="0">
                <a:effectLst/>
                <a:latin typeface="Arial" panose="020B0604020202020204" pitchFamily="34" charset="0"/>
                <a:ea typeface="Arial" panose="020B0604020202020204" pitchFamily="34" charset="0"/>
                <a:cs typeface="Times New Roman" panose="02020603050405020304" pitchFamily="18" charset="0"/>
              </a:rPr>
              <a:t>COMPUTACIONALES</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SEMESTRE</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5715" algn="ctr">
              <a:spcBef>
                <a:spcPts val="780"/>
              </a:spcBef>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SÉPTIMO</a:t>
            </a:r>
            <a:r>
              <a:rPr lang="en-US" sz="1200" spc="-40" dirty="0">
                <a:effectLst/>
                <a:latin typeface="Arial" panose="020B0604020202020204" pitchFamily="34" charset="0"/>
                <a:ea typeface="Arial" panose="020B0604020202020204" pitchFamily="34" charset="0"/>
                <a:cs typeface="Times New Roman" panose="02020603050405020304" pitchFamily="18" charset="0"/>
              </a:rPr>
              <a:t> </a:t>
            </a:r>
            <a:r>
              <a:rPr lang="en-US" sz="1200" spc="-10" dirty="0">
                <a:effectLst/>
                <a:latin typeface="Arial" panose="020B0604020202020204" pitchFamily="34" charset="0"/>
                <a:ea typeface="Arial" panose="020B0604020202020204" pitchFamily="34" charset="0"/>
                <a:cs typeface="Times New Roman" panose="02020603050405020304" pitchFamily="18" charset="0"/>
              </a:rPr>
              <a:t>SEMESTRE</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DOCENTE</a:t>
            </a:r>
            <a:endParaRPr lang="es-MX" sz="700" b="1" spc="-10" dirty="0">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s-ES" sz="1200" dirty="0">
                <a:latin typeface="Arial" panose="020B0604020202020204" pitchFamily="34" charset="0"/>
                <a:ea typeface="Arial" panose="020B0604020202020204" pitchFamily="34" charset="0"/>
                <a:cs typeface="Times New Roman" panose="02020603050405020304" pitchFamily="18" charset="0"/>
              </a:rPr>
              <a:t>ING, Javier Francisco Mingo </a:t>
            </a:r>
            <a:r>
              <a:rPr lang="es-ES" sz="1200" dirty="0" err="1">
                <a:latin typeface="Arial" panose="020B0604020202020204" pitchFamily="34" charset="0"/>
                <a:ea typeface="Arial" panose="020B0604020202020204" pitchFamily="34" charset="0"/>
                <a:cs typeface="Times New Roman" panose="02020603050405020304" pitchFamily="18" charset="0"/>
              </a:rPr>
              <a:t>Velazquez</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TRABAJO</a:t>
            </a:r>
          </a:p>
          <a:p>
            <a:pPr algn="ctr"/>
            <a:r>
              <a:rPr lang="es-ES" sz="1400" b="0" i="0" dirty="0">
                <a:solidFill>
                  <a:srgbClr val="212529"/>
                </a:solidFill>
                <a:effectLst/>
                <a:latin typeface="-apple-system"/>
              </a:rPr>
              <a:t>Actividad 1.3 Banco de ejercicios – Análisis semántico</a:t>
            </a: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LUGAR Y FECH</a:t>
            </a:r>
            <a:r>
              <a:rPr lang="en-US" sz="1200" b="1" dirty="0">
                <a:latin typeface="Arial" panose="020B0604020202020204" pitchFamily="34" charset="0"/>
                <a:ea typeface="Arial" panose="020B0604020202020204" pitchFamily="34" charset="0"/>
                <a:cs typeface="Times New Roman" panose="02020603050405020304" pitchFamily="18" charset="0"/>
              </a:rPr>
              <a:t>A</a:t>
            </a:r>
          </a:p>
          <a:p>
            <a:pPr algn="ctr">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FRONTERA COMALAPA, CHIAPAS A </a:t>
            </a:r>
            <a:r>
              <a:rPr lang="en-US" sz="1200" dirty="0">
                <a:latin typeface="Arial" panose="020B0604020202020204" pitchFamily="34" charset="0"/>
                <a:ea typeface="Arial" panose="020B0604020202020204" pitchFamily="34" charset="0"/>
                <a:cs typeface="Times New Roman" panose="02020603050405020304" pitchFamily="18" charset="0"/>
              </a:rPr>
              <a:t>23</a:t>
            </a:r>
            <a:r>
              <a:rPr lang="en-US" sz="1200" dirty="0">
                <a:effectLst/>
                <a:latin typeface="Arial" panose="020B0604020202020204" pitchFamily="34" charset="0"/>
                <a:ea typeface="Arial" panose="020B0604020202020204" pitchFamily="34" charset="0"/>
                <a:cs typeface="Times New Roman" panose="02020603050405020304" pitchFamily="18" charset="0"/>
              </a:rPr>
              <a:t> AGOSTO DEL 2026</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56922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Introducción</a:t>
            </a:r>
            <a:endParaRPr lang="en-US" sz="3000" dirty="0"/>
          </a:p>
        </p:txBody>
      </p:sp>
      <p:sp>
        <p:nvSpPr>
          <p:cNvPr id="3" name="Shape 1"/>
          <p:cNvSpPr/>
          <p:nvPr/>
        </p:nvSpPr>
        <p:spPr>
          <a:xfrm>
            <a:off x="640080" y="1600200"/>
            <a:ext cx="118872" cy="118872"/>
          </a:xfrm>
          <a:prstGeom prst="ellipse">
            <a:avLst/>
          </a:prstGeom>
          <a:solidFill>
            <a:srgbClr val="2BD9B9"/>
          </a:solidFill>
          <a:ln/>
        </p:spPr>
      </p:sp>
      <p:sp>
        <p:nvSpPr>
          <p:cNvPr id="4" name="Text 2"/>
          <p:cNvSpPr txBox="1"/>
          <p:nvPr/>
        </p:nvSpPr>
        <p:spPr>
          <a:xfrm>
            <a:off x="914400" y="1417320"/>
            <a:ext cx="10360152" cy="4206240"/>
          </a:xfrm>
          <a:prstGeom prst="rect">
            <a:avLst/>
          </a:prstGeom>
          <a:noFill/>
          <a:ln/>
        </p:spPr>
        <p:txBody>
          <a:bodyPr wrap="square" rtlCol="0" anchor="t"/>
          <a:lstStyle/>
          <a:p>
            <a:pPr marL="0" indent="0">
              <a:lnSpc>
                <a:spcPct val="125000"/>
              </a:lnSpc>
              <a:buNone/>
            </a:pPr>
            <a:r>
              <a:rPr lang="en-US" sz="1600" dirty="0">
                <a:solidFill>
                  <a:srgbClr val="142542"/>
                </a:solidFill>
                <a:latin typeface="Calibri" pitchFamily="34" charset="0"/>
                <a:ea typeface="Calibri" pitchFamily="34" charset="-122"/>
                <a:cs typeface="Calibri" pitchFamily="34" charset="-120"/>
              </a:rPr>
              <a:t>El presente banco reúne siete ejercicios prácticos de análisis semántico, resueltos con el compilador didáctico en Java "Analizador Semántico" desarrollado previamente, que permite declarar variables, evaluar expresiones aritméticas y visualizar cada etapa del análisis; cada ejercicio se centra en uno de los subtemas de esta fase del compilador —árboles de expresión, acciones semánticas, comprobación de tipos, pila semántica, esquema de traducción, tabla de símbolos y direcciones, y manejo de errores semánticos—, mostrando el código fuente evaluado, la salida generada por la herramienta y una breve explicación de lo que dicho resultado demuestra.</a:t>
            </a:r>
            <a:endParaRPr lang="en-US" sz="1600" dirty="0"/>
          </a:p>
        </p:txBody>
      </p:sp>
      <p:sp>
        <p:nvSpPr>
          <p:cNvPr id="5" name="Text 3"/>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6" name="Text 4"/>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Justificación</a:t>
            </a:r>
            <a:endParaRPr lang="en-US" sz="3000" dirty="0"/>
          </a:p>
        </p:txBody>
      </p:sp>
      <p:sp>
        <p:nvSpPr>
          <p:cNvPr id="3" name="Shape 1"/>
          <p:cNvSpPr/>
          <p:nvPr/>
        </p:nvSpPr>
        <p:spPr>
          <a:xfrm>
            <a:off x="640080" y="1600200"/>
            <a:ext cx="118872" cy="118872"/>
          </a:xfrm>
          <a:prstGeom prst="ellipse">
            <a:avLst/>
          </a:prstGeom>
          <a:solidFill>
            <a:srgbClr val="2BD9B9"/>
          </a:solidFill>
          <a:ln/>
        </p:spPr>
      </p:sp>
      <p:sp>
        <p:nvSpPr>
          <p:cNvPr id="4" name="Text 2"/>
          <p:cNvSpPr txBox="1"/>
          <p:nvPr/>
        </p:nvSpPr>
        <p:spPr>
          <a:xfrm>
            <a:off x="914400" y="1417320"/>
            <a:ext cx="10360152" cy="4206240"/>
          </a:xfrm>
          <a:prstGeom prst="rect">
            <a:avLst/>
          </a:prstGeom>
          <a:noFill/>
          <a:ln/>
        </p:spPr>
        <p:txBody>
          <a:bodyPr wrap="square" rtlCol="0" anchor="t"/>
          <a:lstStyle/>
          <a:p>
            <a:pPr marL="0" indent="0">
              <a:lnSpc>
                <a:spcPct val="125000"/>
              </a:lnSpc>
              <a:buNone/>
            </a:pPr>
            <a:r>
              <a:rPr lang="en-US" sz="1600" dirty="0">
                <a:solidFill>
                  <a:srgbClr val="142542"/>
                </a:solidFill>
                <a:latin typeface="Calibri" pitchFamily="34" charset="0"/>
                <a:ea typeface="Calibri" pitchFamily="34" charset="-122"/>
                <a:cs typeface="Calibri" pitchFamily="34" charset="-120"/>
              </a:rPr>
              <a:t>Resolver un banco de ejercicios centrado en cada subtema del análisis semántico permite reforzar por separado conceptos que, al construir un compilador, suelen abordarse en conjunto; distinguir la construcción de árboles de expresión, las acciones semánticas de cada producción, la verificación de tipos, el uso de una pila semántica, la generación del esquema de traducción, el llenado de la tabla de símbolos y direcciones, y el manejo de errores semánticos, ayuda a identificar con claridad la responsabilidad de cada etapa y a comprobar, con ejemplos concretos, cómo el analizador tiene éxito o falla ante distintas entradas.</a:t>
            </a:r>
            <a:endParaRPr lang="en-US" sz="1600" dirty="0"/>
          </a:p>
        </p:txBody>
      </p:sp>
      <p:sp>
        <p:nvSpPr>
          <p:cNvPr id="5" name="Text 3"/>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6" name="Text 4"/>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Ejercicio 1.1. Árbol de expresión</a:t>
            </a:r>
            <a:endParaRPr lang="en-US" sz="3000" dirty="0"/>
          </a:p>
        </p:txBody>
      </p:sp>
      <p:sp>
        <p:nvSpPr>
          <p:cNvPr id="3" name="Text 1"/>
          <p:cNvSpPr txBox="1"/>
          <p:nvPr/>
        </p:nvSpPr>
        <p:spPr>
          <a:xfrm>
            <a:off x="640080" y="1234440"/>
            <a:ext cx="10908792" cy="1371600"/>
          </a:xfrm>
          <a:prstGeom prst="rect">
            <a:avLst/>
          </a:prstGeom>
          <a:noFill/>
          <a:ln/>
        </p:spPr>
        <p:txBody>
          <a:bodyPr wrap="square" rtlCol="0" anchor="ctr"/>
          <a:lstStyle/>
          <a:p>
            <a:pPr marL="0" indent="0">
              <a:lnSpc>
                <a:spcPct val="120000"/>
              </a:lnSpc>
              <a:buNone/>
            </a:pPr>
            <a:r>
              <a:rPr lang="en-US" sz="1400" dirty="0">
                <a:solidFill>
                  <a:srgbClr val="142542"/>
                </a:solidFill>
                <a:latin typeface="Calibri" pitchFamily="34" charset="0"/>
                <a:ea typeface="Calibri" pitchFamily="34" charset="-122"/>
                <a:cs typeface="Calibri" pitchFamily="34" charset="-120"/>
              </a:rPr>
              <a:t>Con el código int a = 10; int b = 5; int c = 2; int resultado = a + b * c;, la pestaña “Árbol de expresión” construye el árbol anotado de la expresión: la raíz es el nodo ‘+’ (tipo int), con ‘a’ como operando izquierdo y, como subárbol derecho, el nodo ‘*’ que agrupa a ‘b’ y ‘c’; cada nodo se anota con su tipo, mostrando que el árbol respeta la precedencia del operador de multiplicación sobre la suma.</a:t>
            </a:r>
            <a:endParaRPr lang="en-US" sz="1400" dirty="0"/>
          </a:p>
        </p:txBody>
      </p:sp>
      <p:pic>
        <p:nvPicPr>
          <p:cNvPr id="4" name="Image 0" descr="/home/claude/img/ex_arbol.png"/>
          <p:cNvPicPr>
            <a:picLocks noChangeAspect="1"/>
          </p:cNvPicPr>
          <p:nvPr/>
        </p:nvPicPr>
        <p:blipFill>
          <a:blip r:embed="rId2"/>
          <a:stretch>
            <a:fillRect/>
          </a:stretch>
        </p:blipFill>
        <p:spPr>
          <a:xfrm>
            <a:off x="2432304" y="2743200"/>
            <a:ext cx="7315200" cy="3566160"/>
          </a:xfrm>
          <a:prstGeom prst="rect">
            <a:avLst/>
          </a:prstGeom>
        </p:spPr>
      </p:pic>
      <p:sp>
        <p:nvSpPr>
          <p:cNvPr id="5" name="Text 2"/>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6" name="Text 3"/>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Ejercicio 1.2. Acciones semánticas de un analizador sintáctico</a:t>
            </a:r>
            <a:endParaRPr lang="en-US" sz="3000" dirty="0"/>
          </a:p>
        </p:txBody>
      </p:sp>
      <p:sp>
        <p:nvSpPr>
          <p:cNvPr id="3" name="Text 1"/>
          <p:cNvSpPr txBox="1"/>
          <p:nvPr/>
        </p:nvSpPr>
        <p:spPr>
          <a:xfrm>
            <a:off x="640080" y="1234440"/>
            <a:ext cx="10908792" cy="1371600"/>
          </a:xfrm>
          <a:prstGeom prst="rect">
            <a:avLst/>
          </a:prstGeom>
          <a:noFill/>
          <a:ln/>
        </p:spPr>
        <p:txBody>
          <a:bodyPr wrap="square" rtlCol="0" anchor="ctr"/>
          <a:lstStyle/>
          <a:p>
            <a:pPr marL="0" indent="0">
              <a:lnSpc>
                <a:spcPct val="120000"/>
              </a:lnSpc>
              <a:buNone/>
            </a:pPr>
            <a:r>
              <a:rPr lang="en-US" sz="1400" dirty="0">
                <a:solidFill>
                  <a:srgbClr val="142542"/>
                </a:solidFill>
                <a:latin typeface="Calibri" pitchFamily="34" charset="0"/>
                <a:ea typeface="Calibri" pitchFamily="34" charset="-122"/>
                <a:cs typeface="Calibri" pitchFamily="34" charset="-120"/>
              </a:rPr>
              <a:t>Con el código int numero1 = 6; int numero2 = 3; int suma = numero1 + numero2;, la pestaña “Acciones semánticas” muestra, línea por línea, cada acción que ejecuta el analizador conforme reconoce los tokens: registra el tipo base, crea la entrada correspondiente en la tabla de símbolos con su dirección de memoria, y al llegar a la expresión de la línea 3 construye el subárbol ‘numero1 + numero2’ determinando su tipo resultante (int) antes de registrar la variable ‘suma’.</a:t>
            </a:r>
            <a:endParaRPr lang="en-US" sz="1400" dirty="0"/>
          </a:p>
        </p:txBody>
      </p:sp>
      <p:pic>
        <p:nvPicPr>
          <p:cNvPr id="4" name="Image 0" descr="/home/claude/img/ex_acciones.png"/>
          <p:cNvPicPr>
            <a:picLocks noChangeAspect="1"/>
          </p:cNvPicPr>
          <p:nvPr/>
        </p:nvPicPr>
        <p:blipFill>
          <a:blip r:embed="rId2"/>
          <a:stretch>
            <a:fillRect/>
          </a:stretch>
        </p:blipFill>
        <p:spPr>
          <a:xfrm>
            <a:off x="2432304" y="2743200"/>
            <a:ext cx="7315200" cy="3566160"/>
          </a:xfrm>
          <a:prstGeom prst="rect">
            <a:avLst/>
          </a:prstGeom>
        </p:spPr>
      </p:pic>
      <p:sp>
        <p:nvSpPr>
          <p:cNvPr id="5" name="Text 2"/>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6" name="Text 3"/>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Ejercicio 1.3. Comprobación de tipos en expresiones</a:t>
            </a:r>
            <a:endParaRPr lang="en-US" sz="3000" dirty="0"/>
          </a:p>
        </p:txBody>
      </p:sp>
      <p:sp>
        <p:nvSpPr>
          <p:cNvPr id="3" name="Text 1"/>
          <p:cNvSpPr txBox="1"/>
          <p:nvPr/>
        </p:nvSpPr>
        <p:spPr>
          <a:xfrm>
            <a:off x="640080" y="1097280"/>
            <a:ext cx="10908792" cy="1188720"/>
          </a:xfrm>
          <a:prstGeom prst="rect">
            <a:avLst/>
          </a:prstGeom>
          <a:noFill/>
          <a:ln/>
        </p:spPr>
        <p:txBody>
          <a:bodyPr wrap="square" rtlCol="0" anchor="ctr"/>
          <a:lstStyle/>
          <a:p>
            <a:pPr marL="0" indent="0">
              <a:lnSpc>
                <a:spcPct val="120000"/>
              </a:lnSpc>
              <a:buNone/>
            </a:pPr>
            <a:r>
              <a:rPr lang="en-US" sz="1200" dirty="0">
                <a:solidFill>
                  <a:srgbClr val="142542"/>
                </a:solidFill>
                <a:latin typeface="Calibri" pitchFamily="34" charset="0"/>
                <a:ea typeface="Calibri" pitchFamily="34" charset="-122"/>
                <a:cs typeface="Calibri" pitchFamily="34" charset="-120"/>
              </a:rPr>
              <a:t>La pestaña “Comprobación de tipos” valida, operando por operando, que los tipos sean compatibles antes de aceptar cada operación. A la izquierda, el analizador marca la variable ‘z’ como tipo indefinido por no haberse declarado, propaga ese error a las operaciones ‘b * z’ y ‘a + b * z’ (que quedan como no verificables), y además detecta que ‘a / 0’ tiene tipos válidos (int, int) pero un divisor igual a cero, reportando en total 3 errores semánticos. A la derecha, con int a = 20; int b = 5; int resultado = a / b;, ambos operandos son de tipo int y compatibles entre sí, por lo que la operación se acepta y el resultado se tipifica también como int, confirmando un análisis exitoso.</a:t>
            </a:r>
            <a:endParaRPr lang="en-US" sz="1400" dirty="0"/>
          </a:p>
        </p:txBody>
      </p:sp>
      <p:pic>
        <p:nvPicPr>
          <p:cNvPr id="4" name="Image 0" descr="/home/claude/img/ex_tipos_error.png"/>
          <p:cNvPicPr>
            <a:picLocks noChangeAspect="1"/>
          </p:cNvPicPr>
          <p:nvPr/>
        </p:nvPicPr>
        <p:blipFill>
          <a:blip r:embed="rId2"/>
          <a:stretch>
            <a:fillRect/>
          </a:stretch>
        </p:blipFill>
        <p:spPr>
          <a:xfrm>
            <a:off x="502920" y="2606040"/>
            <a:ext cx="5349240" cy="3209544"/>
          </a:xfrm>
          <a:prstGeom prst="rect">
            <a:avLst/>
          </a:prstGeom>
        </p:spPr>
      </p:pic>
      <p:pic>
        <p:nvPicPr>
          <p:cNvPr id="5" name="Image 1" descr="/home/claude/img/ex_tipos_valido.png"/>
          <p:cNvPicPr>
            <a:picLocks noChangeAspect="1"/>
          </p:cNvPicPr>
          <p:nvPr/>
        </p:nvPicPr>
        <p:blipFill>
          <a:blip r:embed="rId3"/>
          <a:stretch>
            <a:fillRect/>
          </a:stretch>
        </p:blipFill>
        <p:spPr>
          <a:xfrm>
            <a:off x="6336792" y="2606040"/>
            <a:ext cx="5349240" cy="3209544"/>
          </a:xfrm>
          <a:prstGeom prst="rect">
            <a:avLst/>
          </a:prstGeom>
        </p:spPr>
      </p:pic>
      <p:sp>
        <p:nvSpPr>
          <p:cNvPr id="6" name="Text 2"/>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7" name="Text 3"/>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Ejercicio 1.4. Pila semántica en un analizador sintáctico</a:t>
            </a:r>
            <a:endParaRPr lang="en-US" sz="3000" dirty="0"/>
          </a:p>
        </p:txBody>
      </p:sp>
      <p:sp>
        <p:nvSpPr>
          <p:cNvPr id="3" name="Text 1"/>
          <p:cNvSpPr txBox="1"/>
          <p:nvPr/>
        </p:nvSpPr>
        <p:spPr>
          <a:xfrm>
            <a:off x="640080" y="1234440"/>
            <a:ext cx="10908792" cy="1371600"/>
          </a:xfrm>
          <a:prstGeom prst="rect">
            <a:avLst/>
          </a:prstGeom>
          <a:noFill/>
          <a:ln/>
        </p:spPr>
        <p:txBody>
          <a:bodyPr wrap="square" rtlCol="0" anchor="ctr"/>
          <a:lstStyle/>
          <a:p>
            <a:pPr marL="0" indent="0">
              <a:lnSpc>
                <a:spcPct val="120000"/>
              </a:lnSpc>
              <a:buNone/>
            </a:pPr>
            <a:r>
              <a:rPr lang="en-US" sz="1400" dirty="0">
                <a:solidFill>
                  <a:srgbClr val="142542"/>
                </a:solidFill>
                <a:latin typeface="Calibri" pitchFamily="34" charset="0"/>
                <a:ea typeface="Calibri" pitchFamily="34" charset="-122"/>
                <a:cs typeface="Calibri" pitchFamily="34" charset="-120"/>
              </a:rPr>
              <a:t>Con el código int a = 4; int b = 3; int c = 2; int resultado = a + b * c;, la pestaña “Pila semántica” traza cómo se apilan operandos y operadores conforme se leen: al encontrar el operador ‘*’ se resuelve primero por su mayor precedencia, haciendo POP de ‘b’ y ‘c’ y apilando el subresultado ‘(b * c)’; después se hace POP de ‘a’ y de ese subresultado con el operador ‘+’, dejando la pila de operandos vacía y confirmando que la expresión se resolvió respetando la precedencia de operadores.</a:t>
            </a:r>
            <a:endParaRPr lang="en-US" sz="1400" dirty="0"/>
          </a:p>
        </p:txBody>
      </p:sp>
      <p:pic>
        <p:nvPicPr>
          <p:cNvPr id="4" name="Image 0" descr="/home/claude/img/ex_pila.png"/>
          <p:cNvPicPr>
            <a:picLocks noChangeAspect="1"/>
          </p:cNvPicPr>
          <p:nvPr/>
        </p:nvPicPr>
        <p:blipFill>
          <a:blip r:embed="rId2"/>
          <a:stretch>
            <a:fillRect/>
          </a:stretch>
        </p:blipFill>
        <p:spPr>
          <a:xfrm>
            <a:off x="2432304" y="2743200"/>
            <a:ext cx="7315200" cy="3566160"/>
          </a:xfrm>
          <a:prstGeom prst="rect">
            <a:avLst/>
          </a:prstGeom>
        </p:spPr>
      </p:pic>
      <p:sp>
        <p:nvSpPr>
          <p:cNvPr id="5" name="Text 2"/>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6" name="Text 3"/>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Ejercicio 1.5. Esquema de traducción</a:t>
            </a:r>
            <a:endParaRPr lang="en-US" sz="3000" dirty="0"/>
          </a:p>
        </p:txBody>
      </p:sp>
      <p:sp>
        <p:nvSpPr>
          <p:cNvPr id="3" name="Text 1"/>
          <p:cNvSpPr txBox="1"/>
          <p:nvPr/>
        </p:nvSpPr>
        <p:spPr>
          <a:xfrm>
            <a:off x="640080" y="1234440"/>
            <a:ext cx="10908792" cy="1371600"/>
          </a:xfrm>
          <a:prstGeom prst="rect">
            <a:avLst/>
          </a:prstGeom>
          <a:noFill/>
          <a:ln/>
        </p:spPr>
        <p:txBody>
          <a:bodyPr wrap="square" rtlCol="0" anchor="ctr"/>
          <a:lstStyle/>
          <a:p>
            <a:pPr marL="0" indent="0">
              <a:lnSpc>
                <a:spcPct val="120000"/>
              </a:lnSpc>
              <a:buNone/>
            </a:pPr>
            <a:r>
              <a:rPr lang="en-US" sz="1400" dirty="0">
                <a:solidFill>
                  <a:srgbClr val="142542"/>
                </a:solidFill>
                <a:latin typeface="Calibri" pitchFamily="34" charset="0"/>
                <a:ea typeface="Calibri" pitchFamily="34" charset="-122"/>
                <a:cs typeface="Calibri" pitchFamily="34" charset="-120"/>
              </a:rPr>
              <a:t>Con el código int a = 7; int b = 2; int c = 3; int resultado = a + b * c;, la pestaña “Esquema de traducción” genera el código de tres direcciones equivalente: primero asigna las literales a, b y c; luego crea la temporal t1 = b * c para resolver la multiplicación, después t2 = a + t1 para la suma, y finalmente resultado = t2; el esquema descompone así la expresión completa en instrucciones elementales que respetan el orden de evaluación.</a:t>
            </a:r>
            <a:endParaRPr lang="en-US" sz="1400" dirty="0"/>
          </a:p>
        </p:txBody>
      </p:sp>
      <p:pic>
        <p:nvPicPr>
          <p:cNvPr id="4" name="Image 0" descr="/home/claude/img/ex_traduccion.png"/>
          <p:cNvPicPr>
            <a:picLocks noChangeAspect="1"/>
          </p:cNvPicPr>
          <p:nvPr/>
        </p:nvPicPr>
        <p:blipFill>
          <a:blip r:embed="rId2"/>
          <a:stretch>
            <a:fillRect/>
          </a:stretch>
        </p:blipFill>
        <p:spPr>
          <a:xfrm>
            <a:off x="2432304" y="2743200"/>
            <a:ext cx="7315200" cy="3566160"/>
          </a:xfrm>
          <a:prstGeom prst="rect">
            <a:avLst/>
          </a:prstGeom>
        </p:spPr>
      </p:pic>
      <p:sp>
        <p:nvSpPr>
          <p:cNvPr id="5" name="Text 2"/>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6" name="Text 3"/>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Ejercicio 1.6. Generación de la tabla de símbolos y tabla de direcciones</a:t>
            </a:r>
            <a:endParaRPr lang="en-US" sz="3000" dirty="0"/>
          </a:p>
        </p:txBody>
      </p:sp>
      <p:sp>
        <p:nvSpPr>
          <p:cNvPr id="3" name="Text 1"/>
          <p:cNvSpPr txBox="1"/>
          <p:nvPr/>
        </p:nvSpPr>
        <p:spPr>
          <a:xfrm>
            <a:off x="640080" y="1234440"/>
            <a:ext cx="10908792" cy="1371600"/>
          </a:xfrm>
          <a:prstGeom prst="rect">
            <a:avLst/>
          </a:prstGeom>
          <a:noFill/>
          <a:ln/>
        </p:spPr>
        <p:txBody>
          <a:bodyPr wrap="square" rtlCol="0" anchor="ctr"/>
          <a:lstStyle/>
          <a:p>
            <a:pPr marL="0" indent="0">
              <a:lnSpc>
                <a:spcPct val="120000"/>
              </a:lnSpc>
              <a:buNone/>
            </a:pPr>
            <a:r>
              <a:rPr lang="en-US" sz="1400" dirty="0">
                <a:solidFill>
                  <a:srgbClr val="142542"/>
                </a:solidFill>
                <a:latin typeface="Calibri" pitchFamily="34" charset="0"/>
                <a:ea typeface="Calibri" pitchFamily="34" charset="-122"/>
                <a:cs typeface="Calibri" pitchFamily="34" charset="-120"/>
              </a:rPr>
              <a:t>Con el código int numero1 = 15; int numero2 = 5; int numero3 = 2; int resultado = numero1 / numero2 + numero3;, la pestaña “Tabla de símbolos” muestra, para cada variable declarada, su tipo, valor (o expresión asignada), dirección de memoria asignada en incrementos de 4 bytes (1000, 1004, 1008, 1012), la línea de declaración y si fue inicializada; esta tabla es la base para las etapas posteriores del compilador, como la generación y optimización de código.</a:t>
            </a:r>
            <a:endParaRPr lang="en-US" sz="1400" dirty="0"/>
          </a:p>
        </p:txBody>
      </p:sp>
      <p:pic>
        <p:nvPicPr>
          <p:cNvPr id="4" name="Image 0" descr="/home/claude/img/ex_tabla.png"/>
          <p:cNvPicPr>
            <a:picLocks noChangeAspect="1"/>
          </p:cNvPicPr>
          <p:nvPr/>
        </p:nvPicPr>
        <p:blipFill>
          <a:blip r:embed="rId2"/>
          <a:stretch>
            <a:fillRect/>
          </a:stretch>
        </p:blipFill>
        <p:spPr>
          <a:xfrm>
            <a:off x="2432304" y="2743200"/>
            <a:ext cx="7315200" cy="3566160"/>
          </a:xfrm>
          <a:prstGeom prst="rect">
            <a:avLst/>
          </a:prstGeom>
        </p:spPr>
      </p:pic>
      <p:sp>
        <p:nvSpPr>
          <p:cNvPr id="5" name="Text 2"/>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6" name="Text 3"/>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42542"/>
                </a:solidFill>
                <a:latin typeface="Cambria" pitchFamily="34" charset="0"/>
                <a:ea typeface="Cambria" pitchFamily="34" charset="-122"/>
                <a:cs typeface="Cambria" pitchFamily="34" charset="-120"/>
              </a:rPr>
              <a:t>Ejercicio 1.7. Manejo de errores semánticos</a:t>
            </a:r>
            <a:endParaRPr lang="en-US" sz="3000" dirty="0"/>
          </a:p>
        </p:txBody>
      </p:sp>
      <p:sp>
        <p:nvSpPr>
          <p:cNvPr id="3" name="Text 1"/>
          <p:cNvSpPr txBox="1"/>
          <p:nvPr/>
        </p:nvSpPr>
        <p:spPr>
          <a:xfrm>
            <a:off x="640080" y="1234440"/>
            <a:ext cx="10908792" cy="1371600"/>
          </a:xfrm>
          <a:prstGeom prst="rect">
            <a:avLst/>
          </a:prstGeom>
          <a:noFill/>
          <a:ln/>
        </p:spPr>
        <p:txBody>
          <a:bodyPr wrap="square" rtlCol="0" anchor="ctr"/>
          <a:lstStyle/>
          <a:p>
            <a:pPr marL="0" indent="0">
              <a:lnSpc>
                <a:spcPct val="120000"/>
              </a:lnSpc>
              <a:buNone/>
            </a:pPr>
            <a:r>
              <a:rPr lang="en-US" sz="1400" dirty="0">
                <a:solidFill>
                  <a:srgbClr val="142542"/>
                </a:solidFill>
                <a:latin typeface="Calibri" pitchFamily="34" charset="0"/>
                <a:ea typeface="Calibri" pitchFamily="34" charset="-122"/>
                <a:cs typeface="Calibri" pitchFamily="34" charset="-120"/>
              </a:rPr>
              <a:t>Con el código int a = 10; int b = 5; int resultado = a + b + c;, el analizador reporta en la línea 3 que la variable ‘c’ no ha sido declarada, identificando el error con su número de línea exacto; este comportamiento confirma que el manejo de errores semánticos localiza y describe cada falla (variables no declaradas, redeclaradas, incompatibilidades de tipo o divisiones entre cero) sin necesidad de detener por completo la ejecución del programa.</a:t>
            </a:r>
            <a:endParaRPr lang="en-US" sz="1400" dirty="0"/>
          </a:p>
        </p:txBody>
      </p:sp>
      <p:pic>
        <p:nvPicPr>
          <p:cNvPr id="4" name="Image 0" descr="/home/claude/img/ex_errores.png"/>
          <p:cNvPicPr>
            <a:picLocks noChangeAspect="1"/>
          </p:cNvPicPr>
          <p:nvPr/>
        </p:nvPicPr>
        <p:blipFill>
          <a:blip r:embed="rId2"/>
          <a:stretch>
            <a:fillRect/>
          </a:stretch>
        </p:blipFill>
        <p:spPr>
          <a:xfrm>
            <a:off x="2432304" y="2743200"/>
            <a:ext cx="7315200" cy="3566160"/>
          </a:xfrm>
          <a:prstGeom prst="rect">
            <a:avLst/>
          </a:prstGeom>
        </p:spPr>
      </p:pic>
      <p:sp>
        <p:nvSpPr>
          <p:cNvPr id="5" name="Text 2"/>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6" name="Text 3"/>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142542"/>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908792"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Conclusión</a:t>
            </a:r>
            <a:endParaRPr lang="en-US" sz="2800" dirty="0"/>
          </a:p>
        </p:txBody>
      </p:sp>
      <p:sp>
        <p:nvSpPr>
          <p:cNvPr id="3" name="Text 1"/>
          <p:cNvSpPr txBox="1"/>
          <p:nvPr/>
        </p:nvSpPr>
        <p:spPr>
          <a:xfrm>
            <a:off x="640080" y="1463040"/>
            <a:ext cx="10908792" cy="4572000"/>
          </a:xfrm>
          <a:prstGeom prst="rect">
            <a:avLst/>
          </a:prstGeom>
          <a:noFill/>
          <a:ln/>
        </p:spPr>
        <p:txBody>
          <a:bodyPr wrap="square" rtlCol="0" anchor="t"/>
          <a:lstStyle/>
          <a:p>
            <a:pPr marL="0" indent="0">
              <a:lnSpc>
                <a:spcPct val="130000"/>
              </a:lnSpc>
              <a:buNone/>
            </a:pPr>
            <a:r>
              <a:rPr lang="en-US" sz="1600" dirty="0">
                <a:solidFill>
                  <a:srgbClr val="E7ECF5"/>
                </a:solidFill>
                <a:latin typeface="Calibri" pitchFamily="34" charset="0"/>
                <a:ea typeface="Calibri" pitchFamily="34" charset="-122"/>
                <a:cs typeface="Calibri" pitchFamily="34" charset="-120"/>
              </a:rPr>
              <a:t>Se concluye que este banco de ejercicios permitió comprender, de forma individual y aplicada, cada una de las etapas que conforman el análisis semántico dentro de un compilador: la construcción de árboles de expresión, las acciones semánticas asociadas a cada producción, la comprobación de tipos, el funcionamiento de una pila semántica, la generación de un esquema de traducción, el llenado de la tabla de símbolos y direcciones, y el manejo de errores semánticos; al resolver cada ejercicio con el mismo analizador desarrollado en Java se comprobó, con ejemplos concretos, cómo se relacionan estos subtemas entre sí y cómo su implementación conjunta da lugar a un compilador capaz de validar el sentido de un programa más allá de su estructura sintáctica.</a:t>
            </a:r>
            <a:endParaRPr lang="en-US" sz="1600" dirty="0"/>
          </a:p>
        </p:txBody>
      </p:sp>
      <p:sp>
        <p:nvSpPr>
          <p:cNvPr id="4" name="Text 2"/>
          <p:cNvSpPr txBox="1"/>
          <p:nvPr/>
        </p:nvSpPr>
        <p:spPr>
          <a:xfrm>
            <a:off x="365760" y="6492240"/>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Analizador Semántico — Compilador Didáctico en Java</a:t>
            </a:r>
            <a:endParaRPr lang="en-US" sz="900" dirty="0"/>
          </a:p>
        </p:txBody>
      </p:sp>
      <p:sp>
        <p:nvSpPr>
          <p:cNvPr id="5" name="Text 3"/>
          <p:cNvSpPr txBox="1"/>
          <p:nvPr/>
        </p:nvSpPr>
        <p:spPr>
          <a:xfrm>
            <a:off x="11457432" y="6492240"/>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1307</Words>
  <Application>Microsoft Office PowerPoint</Application>
  <PresentationFormat>Panorámica</PresentationFormat>
  <Paragraphs>59</Paragraphs>
  <Slides>11</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-apple-system</vt: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eddi castillo</cp:lastModifiedBy>
  <cp:revision>4</cp:revision>
  <dcterms:created xsi:type="dcterms:W3CDTF">2026-08-29T05:56:42Z</dcterms:created>
  <dcterms:modified xsi:type="dcterms:W3CDTF">2026-09-01T00:39:32Z</dcterms:modified>
</cp:coreProperties>
</file>