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78" r:id="rId2"/>
    <p:sldId id="257" r:id="rId3"/>
    <p:sldId id="25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1798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9371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87581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16539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81072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1554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84875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14785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0442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340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75866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300783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10000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4012646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53944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63160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78786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eddiCastS/Compilador.git"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234112" y="1005840"/>
            <a:ext cx="5601855" cy="4893647"/>
          </a:xfrm>
          <a:prstGeom prst="rect">
            <a:avLst/>
          </a:prstGeom>
          <a:noFill/>
        </p:spPr>
        <p:txBody>
          <a:bodyPr wrap="none">
            <a:spAutoFit/>
          </a:bodyPr>
          <a:lstStyle/>
          <a:p>
            <a:pPr algn="ctr"/>
            <a:r>
              <a:rPr sz="1600" b="1" dirty="0">
                <a:solidFill>
                  <a:srgbClr val="232323"/>
                </a:solidFill>
                <a:latin typeface="Arial"/>
              </a:rPr>
              <a:t>TECNOLÓGICO NACIONAL DE MÉXICO</a:t>
            </a:r>
          </a:p>
          <a:p>
            <a:pPr algn="ctr"/>
            <a:r>
              <a:rPr sz="1600" b="1" dirty="0">
                <a:solidFill>
                  <a:srgbClr val="232323"/>
                </a:solidFill>
                <a:latin typeface="Arial"/>
              </a:rPr>
              <a:t>INSTITUTO TECNOLÓGICO DE FRONTERA COMALAPA</a:t>
            </a:r>
          </a:p>
          <a:p>
            <a:pPr algn="ctr"/>
            <a:endParaRPr sz="1600" b="1" dirty="0">
              <a:solidFill>
                <a:srgbClr val="232323"/>
              </a:solidFill>
              <a:latin typeface="Arial"/>
            </a:endParaRPr>
          </a:p>
          <a:p>
            <a:pPr algn="ctr"/>
            <a:r>
              <a:rPr sz="1400" b="1" dirty="0">
                <a:solidFill>
                  <a:srgbClr val="232323"/>
                </a:solidFill>
                <a:latin typeface="Arial"/>
              </a:rPr>
              <a:t>NOMBRE DE LA MATERIA</a:t>
            </a:r>
          </a:p>
          <a:p>
            <a:pPr algn="ctr"/>
            <a:r>
              <a:rPr sz="1400" b="0" dirty="0" err="1">
                <a:solidFill>
                  <a:srgbClr val="232323"/>
                </a:solidFill>
                <a:latin typeface="Arial"/>
              </a:rPr>
              <a:t>Lenguajes</a:t>
            </a:r>
            <a:r>
              <a:rPr sz="1400" b="0" dirty="0">
                <a:solidFill>
                  <a:srgbClr val="232323"/>
                </a:solidFill>
                <a:latin typeface="Arial"/>
              </a:rPr>
              <a:t> y </a:t>
            </a:r>
            <a:r>
              <a:rPr sz="1400" b="0" dirty="0" err="1">
                <a:solidFill>
                  <a:srgbClr val="232323"/>
                </a:solidFill>
                <a:latin typeface="Arial"/>
              </a:rPr>
              <a:t>Autómatas</a:t>
            </a:r>
            <a:r>
              <a:rPr sz="1400" b="0" dirty="0">
                <a:solidFill>
                  <a:srgbClr val="232323"/>
                </a:solidFill>
                <a:latin typeface="Arial"/>
              </a:rPr>
              <a:t> II</a:t>
            </a:r>
          </a:p>
          <a:p>
            <a:pPr algn="ctr"/>
            <a:endParaRPr sz="1400" b="0" dirty="0">
              <a:solidFill>
                <a:srgbClr val="232323"/>
              </a:solidFill>
              <a:latin typeface="Arial"/>
            </a:endParaRPr>
          </a:p>
          <a:p>
            <a:pPr algn="ctr"/>
            <a:r>
              <a:rPr sz="1400" b="1" dirty="0">
                <a:solidFill>
                  <a:srgbClr val="232323"/>
                </a:solidFill>
                <a:latin typeface="Arial"/>
              </a:rPr>
              <a:t>NOMBRE DEL ESTUDIANTE</a:t>
            </a:r>
          </a:p>
          <a:p>
            <a:pPr algn="ctr"/>
            <a:r>
              <a:rPr sz="1400" b="0" dirty="0">
                <a:solidFill>
                  <a:srgbClr val="232323"/>
                </a:solidFill>
                <a:latin typeface="Arial"/>
              </a:rPr>
              <a:t>EDDI URIEL CASTILLO SÁNCHEZ</a:t>
            </a:r>
          </a:p>
          <a:p>
            <a:pPr algn="ctr"/>
            <a:endParaRPr sz="1400" b="0" dirty="0">
              <a:solidFill>
                <a:srgbClr val="232323"/>
              </a:solidFill>
              <a:latin typeface="Arial"/>
            </a:endParaRPr>
          </a:p>
          <a:p>
            <a:pPr algn="ctr"/>
            <a:r>
              <a:rPr sz="1400" b="1" dirty="0">
                <a:solidFill>
                  <a:srgbClr val="232323"/>
                </a:solidFill>
                <a:latin typeface="Arial"/>
              </a:rPr>
              <a:t>CARRERA</a:t>
            </a:r>
          </a:p>
          <a:p>
            <a:pPr algn="ctr"/>
            <a:r>
              <a:rPr sz="1400" b="0" dirty="0">
                <a:solidFill>
                  <a:srgbClr val="232323"/>
                </a:solidFill>
                <a:latin typeface="Arial"/>
              </a:rPr>
              <a:t>INGENIERÍA EN SISTEMAS COMPUTACIONALES</a:t>
            </a:r>
          </a:p>
          <a:p>
            <a:pPr algn="ctr"/>
            <a:endParaRPr sz="1400" b="0" dirty="0">
              <a:solidFill>
                <a:srgbClr val="232323"/>
              </a:solidFill>
              <a:latin typeface="Arial"/>
            </a:endParaRPr>
          </a:p>
          <a:p>
            <a:pPr algn="ctr"/>
            <a:r>
              <a:rPr sz="1400" b="1" dirty="0">
                <a:solidFill>
                  <a:srgbClr val="232323"/>
                </a:solidFill>
                <a:latin typeface="Arial"/>
              </a:rPr>
              <a:t>SEMESTRE</a:t>
            </a:r>
          </a:p>
          <a:p>
            <a:pPr algn="ctr"/>
            <a:r>
              <a:rPr sz="1400" b="0" dirty="0">
                <a:solidFill>
                  <a:srgbClr val="232323"/>
                </a:solidFill>
                <a:latin typeface="Arial"/>
              </a:rPr>
              <a:t>SÉPTIMO SEMESTRE</a:t>
            </a:r>
          </a:p>
          <a:p>
            <a:pPr algn="ctr"/>
            <a:endParaRPr sz="1400" b="0" dirty="0">
              <a:solidFill>
                <a:srgbClr val="232323"/>
              </a:solidFill>
              <a:latin typeface="Arial"/>
            </a:endParaRPr>
          </a:p>
          <a:p>
            <a:pPr algn="ctr"/>
            <a:r>
              <a:rPr sz="1400" b="1" dirty="0">
                <a:solidFill>
                  <a:srgbClr val="232323"/>
                </a:solidFill>
                <a:latin typeface="Arial"/>
              </a:rPr>
              <a:t>NOMBRE DEL DOCENTE</a:t>
            </a:r>
          </a:p>
          <a:p>
            <a:pPr algn="ctr"/>
            <a:r>
              <a:rPr sz="1400" b="0" dirty="0">
                <a:solidFill>
                  <a:srgbClr val="232323"/>
                </a:solidFill>
                <a:latin typeface="Arial"/>
              </a:rPr>
              <a:t>Ing. Javier Francisco Mingo Velázquez</a:t>
            </a:r>
          </a:p>
          <a:p>
            <a:pPr algn="ctr"/>
            <a:endParaRPr sz="1400" b="0" dirty="0">
              <a:solidFill>
                <a:srgbClr val="232323"/>
              </a:solidFill>
              <a:latin typeface="Arial"/>
            </a:endParaRPr>
          </a:p>
          <a:p>
            <a:pPr algn="ctr"/>
            <a:r>
              <a:rPr sz="1400" b="1" dirty="0">
                <a:solidFill>
                  <a:srgbClr val="232323"/>
                </a:solidFill>
                <a:latin typeface="Arial"/>
              </a:rPr>
              <a:t>NOMBRE DEL TRABAJO</a:t>
            </a:r>
          </a:p>
          <a:p>
            <a:pPr algn="ctr"/>
            <a:r>
              <a:rPr lang="es-MX" sz="1300" b="0" dirty="0" err="1">
                <a:solidFill>
                  <a:srgbClr val="232323"/>
                </a:solidFill>
                <a:latin typeface="Arial"/>
              </a:rPr>
              <a:t>Act</a:t>
            </a:r>
            <a:r>
              <a:rPr lang="es-MX" sz="1300" b="0" dirty="0">
                <a:solidFill>
                  <a:srgbClr val="232323"/>
                </a:solidFill>
                <a:latin typeface="Arial"/>
              </a:rPr>
              <a:t> 4.2 </a:t>
            </a:r>
            <a:r>
              <a:rPr sz="1300" b="0" dirty="0" err="1">
                <a:solidFill>
                  <a:srgbClr val="232323"/>
                </a:solidFill>
                <a:latin typeface="Arial"/>
              </a:rPr>
              <a:t>Reporte</a:t>
            </a:r>
            <a:r>
              <a:rPr sz="1300" b="0" dirty="0">
                <a:solidFill>
                  <a:srgbClr val="232323"/>
                </a:solidFill>
                <a:latin typeface="Arial"/>
              </a:rPr>
              <a:t> de </a:t>
            </a:r>
            <a:r>
              <a:rPr sz="1300" b="0" dirty="0" err="1">
                <a:solidFill>
                  <a:srgbClr val="232323"/>
                </a:solidFill>
                <a:latin typeface="Arial"/>
              </a:rPr>
              <a:t>práctica</a:t>
            </a:r>
            <a:endParaRPr lang="es-MX" sz="1300" dirty="0">
              <a:solidFill>
                <a:srgbClr val="232323"/>
              </a:solidFill>
              <a:latin typeface="Arial"/>
            </a:endParaRPr>
          </a:p>
          <a:p>
            <a:pPr algn="ctr"/>
            <a:r>
              <a:rPr sz="1400" b="1" dirty="0">
                <a:solidFill>
                  <a:srgbClr val="232323"/>
                </a:solidFill>
                <a:latin typeface="Arial"/>
              </a:rPr>
              <a:t>LUGAR Y FECHA</a:t>
            </a:r>
          </a:p>
          <a:p>
            <a:pPr algn="ctr"/>
            <a:r>
              <a:rPr sz="1300" b="0" dirty="0">
                <a:solidFill>
                  <a:srgbClr val="232323"/>
                </a:solidFill>
                <a:latin typeface="Arial"/>
              </a:rPr>
              <a:t>Frontera </a:t>
            </a:r>
            <a:r>
              <a:rPr sz="1300" b="0" dirty="0" err="1">
                <a:solidFill>
                  <a:srgbClr val="232323"/>
                </a:solidFill>
                <a:latin typeface="Arial"/>
              </a:rPr>
              <a:t>Comalapa</a:t>
            </a:r>
            <a:r>
              <a:rPr sz="1300" b="0" dirty="0">
                <a:solidFill>
                  <a:srgbClr val="232323"/>
                </a:solidFill>
                <a:latin typeface="Arial"/>
              </a:rPr>
              <a:t>, Chiapas </a:t>
            </a:r>
            <a:r>
              <a:rPr lang="es-MX" sz="1300">
                <a:solidFill>
                  <a:srgbClr val="232323"/>
                </a:solidFill>
                <a:latin typeface="Arial"/>
              </a:rPr>
              <a:t>04</a:t>
            </a:r>
            <a:r>
              <a:rPr lang="es-MX" sz="1300" b="0">
                <a:solidFill>
                  <a:srgbClr val="232323"/>
                </a:solidFill>
                <a:latin typeface="Arial"/>
              </a:rPr>
              <a:t> </a:t>
            </a:r>
            <a:r>
              <a:rPr lang="es-MX" sz="1300" b="0" dirty="0">
                <a:solidFill>
                  <a:srgbClr val="232323"/>
                </a:solidFill>
                <a:latin typeface="Arial"/>
              </a:rPr>
              <a:t>de octubre</a:t>
            </a:r>
            <a:r>
              <a:rPr sz="1300" b="0" dirty="0">
                <a:solidFill>
                  <a:srgbClr val="232323"/>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r">
              <a:defRPr sz="900">
                <a:solidFill>
                  <a:srgbClr val="5A5A5A"/>
                </a:solidFill>
                <a:latin typeface="Aria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232323"/>
                </a:solidFill>
                <a:latin typeface="Arial"/>
              </a:rPr>
              <a:t>Introducción</a:t>
            </a:r>
          </a:p>
        </p:txBody>
      </p:sp>
      <p:sp>
        <p:nvSpPr>
          <p:cNvPr id="3" name="TextBox 2"/>
          <p:cNvSpPr txBox="1"/>
          <p:nvPr/>
        </p:nvSpPr>
        <p:spPr>
          <a:xfrm>
            <a:off x="731520" y="1143000"/>
            <a:ext cx="10789920" cy="4206240"/>
          </a:xfrm>
          <a:prstGeom prst="rect">
            <a:avLst/>
          </a:prstGeom>
          <a:noFill/>
        </p:spPr>
        <p:txBody>
          <a:bodyPr wrap="square" lIns="0" tIns="0" rIns="0" bIns="0">
            <a:spAutoFit/>
          </a:bodyPr>
          <a:lstStyle/>
          <a:p>
            <a:pPr algn="l"/>
            <a:r>
              <a:rPr sz="2000" b="0">
                <a:solidFill>
                  <a:srgbClr val="232323"/>
                </a:solidFill>
                <a:latin typeface="Arial"/>
              </a:rPr>
              <a:t>Un compilador es un programa encargado de analizar código fuente y transformarlo en una representación que pueda ser procesada por una computadora. En esta práctica se desarrolló en IntelliJ IDEA un mini compilador educativo utilizando Java y JavaFX. El programa integra análisis léxico, análisis sintáctico y análisis semántico, además de una tabla de símbolos y una etapa de generación de código objeto en pseudoensamblador.</a:t>
            </a:r>
            <a:br/>
            <a:br/>
            <a:r>
              <a:rPr sz="2000" b="0">
                <a:solidFill>
                  <a:srgbClr val="232323"/>
                </a:solidFill>
                <a:latin typeface="Arial"/>
              </a:rPr>
              <a:t>La interfaz permite escribir instrucciones sencillas, compilarlas y observar los tokens reconocidos, las variables registradas, los errores encontrados y el código objeto generado. De esta manera se relacionan de forma práctica las principales fases estudiadas en el proceso de compilación.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64240" cy="502920"/>
          </a:xfrm>
          <a:prstGeom prst="rect">
            <a:avLst/>
          </a:prstGeom>
          <a:noFill/>
        </p:spPr>
        <p:txBody>
          <a:bodyPr wrap="square" lIns="0" tIns="0" rIns="0" bIns="0">
            <a:spAutoFit/>
          </a:bodyPr>
          <a:lstStyle/>
          <a:p>
            <a:pPr algn="l"/>
            <a:r>
              <a:rPr sz="2600" b="1">
                <a:solidFill>
                  <a:srgbClr val="232323"/>
                </a:solidFill>
                <a:latin typeface="Arial"/>
              </a:rPr>
              <a:t>Justificación</a:t>
            </a:r>
          </a:p>
        </p:txBody>
      </p:sp>
      <p:sp>
        <p:nvSpPr>
          <p:cNvPr id="3" name="TextBox 2"/>
          <p:cNvSpPr txBox="1"/>
          <p:nvPr/>
        </p:nvSpPr>
        <p:spPr>
          <a:xfrm>
            <a:off x="731520" y="1143000"/>
            <a:ext cx="10789920" cy="4297680"/>
          </a:xfrm>
          <a:prstGeom prst="rect">
            <a:avLst/>
          </a:prstGeom>
          <a:noFill/>
        </p:spPr>
        <p:txBody>
          <a:bodyPr wrap="square" lIns="0" tIns="0" rIns="0" bIns="0">
            <a:spAutoFit/>
          </a:bodyPr>
          <a:lstStyle/>
          <a:p>
            <a:pPr algn="l"/>
            <a:r>
              <a:rPr sz="2000" b="0">
                <a:solidFill>
                  <a:srgbClr val="232323"/>
                </a:solidFill>
                <a:latin typeface="Arial"/>
              </a:rPr>
              <a:t>Esta práctica se realizó para comprender de manera más clara cómo trabaja un compilador y cómo se relacionan sus diferentes etapas. El desarrollo del programa permite identificar primero los elementos del código fuente, después comprobar su estructura y finalmente validar aspectos semánticos como la declaración de variables y la compatibilidad de tipos.</a:t>
            </a:r>
            <a:br/>
            <a:br/>
            <a:r>
              <a:rPr sz="2000" b="0">
                <a:solidFill>
                  <a:srgbClr val="232323"/>
                </a:solidFill>
                <a:latin typeface="Arial"/>
              </a:rPr>
              <a:t>El uso de JavaFX facilita la interacción con el compilador mediante una interfaz gráfica, mientras que IntelliJ IDEA permite organizar las clases que cumplen funciones específicas. Con esto se obtiene una evidencia funcional en la que es posible introducir código correcto o incorrecto y observar la respuesta del compilador.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Creación del proyecto en IntelliJ IDEA</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Se inició la práctica creando un proyecto Java en IntelliJ IDEA y seleccionando JDK 21. A partir de esta estructura se organizaron las clases necesarias para construir el compilador.</a:t>
            </a:r>
          </a:p>
        </p:txBody>
      </p:sp>
      <p:pic>
        <p:nvPicPr>
          <p:cNvPr id="4" name="Picture 3" descr="image(20261001-042927).png"/>
          <p:cNvPicPr>
            <a:picLocks noChangeAspect="1"/>
          </p:cNvPicPr>
          <p:nvPr/>
        </p:nvPicPr>
        <p:blipFill>
          <a:blip r:embed="rId2"/>
          <a:stretch>
            <a:fillRect/>
          </a:stretch>
        </p:blipFill>
        <p:spPr>
          <a:xfrm>
            <a:off x="3463084" y="1874519"/>
            <a:ext cx="4686710" cy="4251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Estructura general del compilador</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El proyecto se organizó en varias clases dentro del paquete com.eduuu.compiler. Cada clase cumple una función específica dentro del proceso de compilación.</a:t>
            </a:r>
          </a:p>
        </p:txBody>
      </p:sp>
      <p:pic>
        <p:nvPicPr>
          <p:cNvPr id="4" name="Picture 3" descr="image(20261001-042946).png"/>
          <p:cNvPicPr>
            <a:picLocks noChangeAspect="1"/>
          </p:cNvPicPr>
          <p:nvPr/>
        </p:nvPicPr>
        <p:blipFill>
          <a:blip r:embed="rId2"/>
          <a:stretch>
            <a:fillRect/>
          </a:stretch>
        </p:blipFill>
        <p:spPr>
          <a:xfrm>
            <a:off x="1810597" y="1874519"/>
            <a:ext cx="7991685" cy="4251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Árbol de sintaxis abstracta (AST)</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 clase Ast define la representación interna del programa mediante nodos para declaraciones, asignaciones, impresión, expresiones binarias, literales y variables.</a:t>
            </a:r>
          </a:p>
        </p:txBody>
      </p:sp>
      <p:pic>
        <p:nvPicPr>
          <p:cNvPr id="4" name="Picture 3" descr="image(20261001-042946).png"/>
          <p:cNvPicPr>
            <a:picLocks noChangeAspect="1"/>
          </p:cNvPicPr>
          <p:nvPr/>
        </p:nvPicPr>
        <p:blipFill>
          <a:blip r:embed="rId2"/>
          <a:stretch>
            <a:fillRect/>
          </a:stretch>
        </p:blipFill>
        <p:spPr>
          <a:xfrm>
            <a:off x="1810597" y="1874519"/>
            <a:ext cx="7991685" cy="4251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Generación de código objeto</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 clase CodeGenerator recibe el programa validado y produce código objeto educativo en pseudoensamblador. Se generan instrucciones como PUSH, LOAD, STORE, ADD, SUB, MUL, DIV, PRINT y HALT.</a:t>
            </a:r>
          </a:p>
        </p:txBody>
      </p:sp>
      <p:pic>
        <p:nvPicPr>
          <p:cNvPr id="4" name="Picture 3" descr="image(20261001-043007).png"/>
          <p:cNvPicPr>
            <a:picLocks noChangeAspect="1"/>
          </p:cNvPicPr>
          <p:nvPr/>
        </p:nvPicPr>
        <p:blipFill>
          <a:blip r:embed="rId2"/>
          <a:stretch>
            <a:fillRect/>
          </a:stretch>
        </p:blipFill>
        <p:spPr>
          <a:xfrm>
            <a:off x="1806679" y="1874519"/>
            <a:ext cx="7999520" cy="4251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Resultado de compilación</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CompilerResult reúne la lista de tokens, el árbol sintáctico, el resultado del análisis semántico y el código generado después de ejecutar el compilador.</a:t>
            </a:r>
          </a:p>
        </p:txBody>
      </p:sp>
      <p:pic>
        <p:nvPicPr>
          <p:cNvPr id="4" name="Picture 3" descr="image(20261001-043025).png"/>
          <p:cNvPicPr>
            <a:picLocks noChangeAspect="1"/>
          </p:cNvPicPr>
          <p:nvPr/>
        </p:nvPicPr>
        <p:blipFill>
          <a:blip r:embed="rId2"/>
          <a:stretch>
            <a:fillRect/>
          </a:stretch>
        </p:blipFill>
        <p:spPr>
          <a:xfrm>
            <a:off x="1790932" y="1874519"/>
            <a:ext cx="8031015" cy="4251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Analizador léxico</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 clase Lexer recorre el código fuente y reconoce palabras reservadas, identificadores, números, cadenas, operadores y símbolos. El resultado de esta fase es una lista de tokens.</a:t>
            </a:r>
          </a:p>
        </p:txBody>
      </p:sp>
      <p:pic>
        <p:nvPicPr>
          <p:cNvPr id="4" name="Picture 3" descr="image(20261001-043039).png"/>
          <p:cNvPicPr>
            <a:picLocks noChangeAspect="1"/>
          </p:cNvPicPr>
          <p:nvPr/>
        </p:nvPicPr>
        <p:blipFill>
          <a:blip r:embed="rId2"/>
          <a:stretch>
            <a:fillRect/>
          </a:stretch>
        </p:blipFill>
        <p:spPr>
          <a:xfrm>
            <a:off x="1814506" y="1874519"/>
            <a:ext cx="7983866" cy="4251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Control de errores léxicos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LexicalException permite detener el proceso cuando se encuentra un símbolo no reconocido o una cadena incorrecta, mostrando un mensaje para identificar el problema.</a:t>
            </a:r>
          </a:p>
        </p:txBody>
      </p:sp>
      <p:pic>
        <p:nvPicPr>
          <p:cNvPr id="4" name="Picture 3" descr="image(20261001-043054).png"/>
          <p:cNvPicPr>
            <a:picLocks noChangeAspect="1"/>
          </p:cNvPicPr>
          <p:nvPr/>
        </p:nvPicPr>
        <p:blipFill>
          <a:blip r:embed="rId2"/>
          <a:stretch>
            <a:fillRect/>
          </a:stretch>
        </p:blipFill>
        <p:spPr>
          <a:xfrm>
            <a:off x="1789070" y="1874519"/>
            <a:ext cx="8034738" cy="4251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Interfaz principal con JavaFX</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 clase MainApp construye la interfaz gráfica. Incluye el área de código fuente, botones de control y pestañas para consultar tokens, tabla de símbolos, mensajes y código objeto.</a:t>
            </a:r>
          </a:p>
        </p:txBody>
      </p:sp>
      <p:pic>
        <p:nvPicPr>
          <p:cNvPr id="4" name="Picture 3" descr="image(20261001-043119).png"/>
          <p:cNvPicPr>
            <a:picLocks noChangeAspect="1"/>
          </p:cNvPicPr>
          <p:nvPr/>
        </p:nvPicPr>
        <p:blipFill>
          <a:blip r:embed="rId2"/>
          <a:stretch>
            <a:fillRect/>
          </a:stretch>
        </p:blipFill>
        <p:spPr>
          <a:xfrm>
            <a:off x="1771073" y="1874519"/>
            <a:ext cx="8070733" cy="4251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Integración de las fases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MiniCompiler coordina el proceso completo: ejecuta el Lexer, después el Parser, continúa con SemanticAnalyzer y, si no existen errores, llama al CodeGenerator.</a:t>
            </a:r>
          </a:p>
        </p:txBody>
      </p:sp>
      <p:pic>
        <p:nvPicPr>
          <p:cNvPr id="4" name="Picture 3" descr="image(20261001-043133).png"/>
          <p:cNvPicPr>
            <a:picLocks noChangeAspect="1"/>
          </p:cNvPicPr>
          <p:nvPr/>
        </p:nvPicPr>
        <p:blipFill>
          <a:blip r:embed="rId2"/>
          <a:stretch>
            <a:fillRect/>
          </a:stretch>
        </p:blipFill>
        <p:spPr>
          <a:xfrm>
            <a:off x="1814761" y="1874519"/>
            <a:ext cx="7983356" cy="4251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Analizador sintáctico</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 clase Parser comprueba que las instrucciones cumplan con la gramática definida y construye el árbol de sintaxis abstracta correspondiente.</a:t>
            </a:r>
          </a:p>
        </p:txBody>
      </p:sp>
      <p:pic>
        <p:nvPicPr>
          <p:cNvPr id="4" name="Picture 3" descr="image(20261001-043149).png"/>
          <p:cNvPicPr>
            <a:picLocks noChangeAspect="1"/>
          </p:cNvPicPr>
          <p:nvPr/>
        </p:nvPicPr>
        <p:blipFill>
          <a:blip r:embed="rId2"/>
          <a:stretch>
            <a:fillRect/>
          </a:stretch>
        </p:blipFill>
        <p:spPr>
          <a:xfrm>
            <a:off x="1810597" y="1874519"/>
            <a:ext cx="7991685" cy="42519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Control de errores sintácticos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ParserException se utiliza cuando la estructura del código no es válida, por ejemplo cuando falta un punto y coma, un paréntesis o una parte obligatoria de una instrucción.</a:t>
            </a:r>
          </a:p>
        </p:txBody>
      </p:sp>
      <p:pic>
        <p:nvPicPr>
          <p:cNvPr id="4" name="Picture 3" descr="image(20261001-043208).png"/>
          <p:cNvPicPr>
            <a:picLocks noChangeAspect="1"/>
          </p:cNvPicPr>
          <p:nvPr/>
        </p:nvPicPr>
        <p:blipFill>
          <a:blip r:embed="rId2"/>
          <a:stretch>
            <a:fillRect/>
          </a:stretch>
        </p:blipFill>
        <p:spPr>
          <a:xfrm>
            <a:off x="1771073" y="1874519"/>
            <a:ext cx="8070733" cy="4251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Analizador semántico</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SemanticAnalyzer verifica variables declaradas, evita duplicados, comprueba compatibilidad de tipos y detecta operaciones inválidas, incluyendo división literal entre cero.</a:t>
            </a:r>
          </a:p>
        </p:txBody>
      </p:sp>
      <p:pic>
        <p:nvPicPr>
          <p:cNvPr id="4" name="Picture 3" descr="image(20261001-043220).png"/>
          <p:cNvPicPr>
            <a:picLocks noChangeAspect="1"/>
          </p:cNvPicPr>
          <p:nvPr/>
        </p:nvPicPr>
        <p:blipFill>
          <a:blip r:embed="rId2"/>
          <a:stretch>
            <a:fillRect/>
          </a:stretch>
        </p:blipFill>
        <p:spPr>
          <a:xfrm>
            <a:off x="1802754" y="1874519"/>
            <a:ext cx="8007371" cy="42519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Registro de errores semánticos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SemanticError almacena la línea, la columna y el mensaje de cada problema encontrado, permitiendo informar al usuario dónde se produjo el error.</a:t>
            </a:r>
          </a:p>
        </p:txBody>
      </p:sp>
      <p:pic>
        <p:nvPicPr>
          <p:cNvPr id="4" name="Picture 3" descr="image(20261001-043236).png"/>
          <p:cNvPicPr>
            <a:picLocks noChangeAspect="1"/>
          </p:cNvPicPr>
          <p:nvPr/>
        </p:nvPicPr>
        <p:blipFill>
          <a:blip r:embed="rId2"/>
          <a:stretch>
            <a:fillRect/>
          </a:stretch>
        </p:blipFill>
        <p:spPr>
          <a:xfrm>
            <a:off x="1818409" y="1874519"/>
            <a:ext cx="7976061" cy="42519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Resultado del análisis semántico</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SemanticResult conserva la tabla de símbolos y la lista de errores encontrados. También permite saber si el programa es válido antes de generar código objeto.</a:t>
            </a:r>
          </a:p>
        </p:txBody>
      </p:sp>
      <p:pic>
        <p:nvPicPr>
          <p:cNvPr id="4" name="Picture 3" descr="image(20261001-043250).png"/>
          <p:cNvPicPr>
            <a:picLocks noChangeAspect="1"/>
          </p:cNvPicPr>
          <p:nvPr/>
        </p:nvPicPr>
        <p:blipFill>
          <a:blip r:embed="rId2"/>
          <a:stretch>
            <a:fillRect/>
          </a:stretch>
        </p:blipFill>
        <p:spPr>
          <a:xfrm>
            <a:off x="1810597" y="1874519"/>
            <a:ext cx="7991685" cy="42519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Símbolos y tabla de símbolos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Las clases Symbol y SymbolTable almacenan el nombre, tipo y línea de declaración de las variables. Esta información es consultada por el analizador semántico.</a:t>
            </a:r>
          </a:p>
        </p:txBody>
      </p:sp>
      <p:pic>
        <p:nvPicPr>
          <p:cNvPr id="4" name="Picture 3" descr="image(20261001-043304).png"/>
          <p:cNvPicPr>
            <a:picLocks noChangeAspect="1"/>
          </p:cNvPicPr>
          <p:nvPr/>
        </p:nvPicPr>
        <p:blipFill>
          <a:blip r:embed="rId2"/>
          <a:stretch>
            <a:fillRect/>
          </a:stretch>
        </p:blipFill>
        <p:spPr>
          <a:xfrm>
            <a:off x="502920" y="2515184"/>
            <a:ext cx="5394960" cy="2879190"/>
          </a:xfrm>
          <a:prstGeom prst="rect">
            <a:avLst/>
          </a:prstGeom>
        </p:spPr>
      </p:pic>
      <p:pic>
        <p:nvPicPr>
          <p:cNvPr id="5" name="Picture 4" descr="image(20261001-043318).png"/>
          <p:cNvPicPr>
            <a:picLocks noChangeAspect="1"/>
          </p:cNvPicPr>
          <p:nvPr/>
        </p:nvPicPr>
        <p:blipFill>
          <a:blip r:embed="rId3"/>
          <a:stretch>
            <a:fillRect/>
          </a:stretch>
        </p:blipFill>
        <p:spPr>
          <a:xfrm>
            <a:off x="5989320" y="2526619"/>
            <a:ext cx="5394960" cy="28563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Tokens del lenguaje</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Las clases Token y TokenType representan los elementos reconocidos por el Lexer, como tipos de datos, identificadores, operadores, paréntesis, punto y coma y fin de archivo.</a:t>
            </a:r>
          </a:p>
        </p:txBody>
      </p:sp>
      <p:pic>
        <p:nvPicPr>
          <p:cNvPr id="4" name="Picture 3" descr="image(20261001-043334).png"/>
          <p:cNvPicPr>
            <a:picLocks noChangeAspect="1"/>
          </p:cNvPicPr>
          <p:nvPr/>
        </p:nvPicPr>
        <p:blipFill>
          <a:blip r:embed="rId2"/>
          <a:stretch>
            <a:fillRect/>
          </a:stretch>
        </p:blipFill>
        <p:spPr>
          <a:xfrm>
            <a:off x="502920" y="2522402"/>
            <a:ext cx="5394960" cy="2864754"/>
          </a:xfrm>
          <a:prstGeom prst="rect">
            <a:avLst/>
          </a:prstGeom>
        </p:spPr>
      </p:pic>
      <p:pic>
        <p:nvPicPr>
          <p:cNvPr id="5" name="Picture 4" descr="image(20261001-043347).png"/>
          <p:cNvPicPr>
            <a:picLocks noChangeAspect="1"/>
          </p:cNvPicPr>
          <p:nvPr/>
        </p:nvPicPr>
        <p:blipFill>
          <a:blip r:embed="rId3"/>
          <a:stretch>
            <a:fillRect/>
          </a:stretch>
        </p:blipFill>
        <p:spPr>
          <a:xfrm>
            <a:off x="5989320" y="2523808"/>
            <a:ext cx="5394960" cy="286194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Desarrollo: Prueba del compilador con errores</a:t>
            </a:r>
          </a:p>
        </p:txBody>
      </p:sp>
      <p:sp>
        <p:nvSpPr>
          <p:cNvPr id="3" name="TextBox 2"/>
          <p:cNvSpPr txBox="1"/>
          <p:nvPr/>
        </p:nvSpPr>
        <p:spPr>
          <a:xfrm>
            <a:off x="566928" y="932688"/>
            <a:ext cx="10561320" cy="960120"/>
          </a:xfrm>
          <a:prstGeom prst="rect">
            <a:avLst/>
          </a:prstGeom>
          <a:noFill/>
        </p:spPr>
        <p:txBody>
          <a:bodyPr wrap="square">
            <a:spAutoFit/>
          </a:bodyPr>
          <a:lstStyle/>
          <a:p>
            <a:pPr algn="l"/>
            <a:r>
              <a:rPr sz="1500" b="0">
                <a:solidFill>
                  <a:srgbClr val="232323"/>
                </a:solidFill>
                <a:latin typeface="Arial"/>
              </a:rPr>
              <a:t>Se ejecutó el programa con un ejemplo que contiene variable duplicada, variable no declarada, asignación incompatible y división entre cero, comprobando así la detección de errores.</a:t>
            </a:r>
          </a:p>
        </p:txBody>
      </p:sp>
      <p:pic>
        <p:nvPicPr>
          <p:cNvPr id="4" name="Picture 3" descr="image(20261001-043406).png"/>
          <p:cNvPicPr>
            <a:picLocks noChangeAspect="1"/>
          </p:cNvPicPr>
          <p:nvPr/>
        </p:nvPicPr>
        <p:blipFill>
          <a:blip r:embed="rId2"/>
          <a:stretch>
            <a:fillRect/>
          </a:stretch>
        </p:blipFill>
        <p:spPr>
          <a:xfrm>
            <a:off x="2837790" y="1874519"/>
            <a:ext cx="5937298" cy="4251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01752"/>
            <a:ext cx="10835640" cy="566928"/>
          </a:xfrm>
          <a:prstGeom prst="rect">
            <a:avLst/>
          </a:prstGeom>
          <a:noFill/>
        </p:spPr>
        <p:txBody>
          <a:bodyPr wrap="none">
            <a:spAutoFit/>
          </a:bodyPr>
          <a:lstStyle/>
          <a:p>
            <a:pPr algn="l"/>
            <a:r>
              <a:rPr sz="2500" b="1">
                <a:solidFill>
                  <a:srgbClr val="232323"/>
                </a:solidFill>
                <a:latin typeface="Arial"/>
              </a:rPr>
              <a:t>Conclusión</a:t>
            </a:r>
          </a:p>
        </p:txBody>
      </p:sp>
      <p:sp>
        <p:nvSpPr>
          <p:cNvPr id="3" name="TextBox 2"/>
          <p:cNvSpPr txBox="1"/>
          <p:nvPr/>
        </p:nvSpPr>
        <p:spPr>
          <a:xfrm>
            <a:off x="640080" y="1143000"/>
            <a:ext cx="10058400" cy="4480560"/>
          </a:xfrm>
          <a:prstGeom prst="rect">
            <a:avLst/>
          </a:prstGeom>
          <a:noFill/>
        </p:spPr>
        <p:txBody>
          <a:bodyPr wrap="square">
            <a:spAutoFit/>
          </a:bodyPr>
          <a:lstStyle/>
          <a:p>
            <a:pPr algn="l"/>
            <a:r>
              <a:rPr sz="2200" b="0">
                <a:solidFill>
                  <a:srgbClr val="232323"/>
                </a:solidFill>
                <a:latin typeface="Arial"/>
              </a:rPr>
              <a:t>Con esta práctica se logró desarrollar un mini compilador educativo en Java que integra las principales etapas de un proceso de compilación. El programa reconoce los elementos del código mediante el análisis léxico, comprueba su estructura con el análisis sintáctico y valida el significado de las instrucciones mediante el análisis semántico.</a:t>
            </a:r>
            <a:br/>
            <a:br/>
            <a:r>
              <a:rPr sz="2200" b="0">
                <a:solidFill>
                  <a:srgbClr val="232323"/>
                </a:solidFill>
                <a:latin typeface="Arial"/>
              </a:rPr>
              <a:t>También se implementó una tabla de símbolos para controlar las variables y una etapa de generación de código objeto en pseudoensamblador. Las pruebas realizadas permitieron comprobar que el compilador puede procesar código correcto y detectar errores como variables duplicadas, variables no declaradas, incompatibilidad de tipos y divisiones entre cero. En general, la práctica permitió comprender de manera más clara cómo trabajan juntas las distintas fases de un compilador.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25D5336-113D-932E-CCCF-740E5A50A5AD}"/>
              </a:ext>
            </a:extLst>
          </p:cNvPr>
          <p:cNvSpPr/>
          <p:nvPr/>
        </p:nvSpPr>
        <p:spPr>
          <a:xfrm>
            <a:off x="235803" y="452176"/>
            <a:ext cx="9390518" cy="5078313"/>
          </a:xfrm>
          <a:prstGeom prst="rect">
            <a:avLst/>
          </a:prstGeom>
          <a:noFill/>
        </p:spPr>
        <p:txBody>
          <a:bodyPr wrap="squar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Anexo link de </a:t>
            </a:r>
            <a:r>
              <a:rPr lang="es-ES" sz="5400" b="0" cap="none" spc="0" dirty="0" err="1">
                <a:ln w="0"/>
                <a:solidFill>
                  <a:schemeClr val="tx1"/>
                </a:solidFill>
                <a:effectLst>
                  <a:outerShdw blurRad="38100" dist="19050" dir="2700000" algn="tl" rotWithShape="0">
                    <a:schemeClr val="dk1">
                      <a:alpha val="40000"/>
                    </a:schemeClr>
                  </a:outerShdw>
                </a:effectLst>
              </a:rPr>
              <a:t>git</a:t>
            </a:r>
            <a:r>
              <a:rPr lang="es-ES" sz="5400" b="0" cap="none" spc="0" dirty="0">
                <a:ln w="0"/>
                <a:solidFill>
                  <a:schemeClr val="tx1"/>
                </a:solidFill>
                <a:effectLst>
                  <a:outerShdw blurRad="38100" dist="19050" dir="2700000" algn="tl" rotWithShape="0">
                    <a:schemeClr val="dk1">
                      <a:alpha val="40000"/>
                    </a:schemeClr>
                  </a:outerShdw>
                </a:effectLst>
              </a:rPr>
              <a:t> </a:t>
            </a:r>
            <a:r>
              <a:rPr lang="es-ES" sz="5400" b="0" cap="none" spc="0" dirty="0" err="1">
                <a:ln w="0"/>
                <a:solidFill>
                  <a:schemeClr val="tx1"/>
                </a:solidFill>
                <a:effectLst>
                  <a:outerShdw blurRad="38100" dist="19050" dir="2700000" algn="tl" rotWithShape="0">
                    <a:schemeClr val="dk1">
                      <a:alpha val="40000"/>
                    </a:schemeClr>
                  </a:outerShdw>
                </a:effectLst>
              </a:rPr>
              <a:t>hub</a:t>
            </a:r>
            <a:r>
              <a:rPr lang="es-ES" sz="5400" b="0" cap="none" spc="0" dirty="0">
                <a:ln w="0"/>
                <a:solidFill>
                  <a:schemeClr val="tx1"/>
                </a:solidFill>
                <a:effectLst>
                  <a:outerShdw blurRad="38100" dist="19050" dir="2700000" algn="tl" rotWithShape="0">
                    <a:schemeClr val="dk1">
                      <a:alpha val="40000"/>
                    </a:schemeClr>
                  </a:outerShdw>
                </a:effectLst>
              </a:rPr>
              <a:t> con el programa realizado</a:t>
            </a:r>
          </a:p>
          <a:p>
            <a:pPr algn="ctr"/>
            <a:endParaRPr lang="es-ES" sz="5400" dirty="0">
              <a:ln w="0"/>
              <a:effectLst>
                <a:outerShdw blurRad="38100" dist="19050" dir="2700000" algn="tl" rotWithShape="0">
                  <a:schemeClr val="dk1">
                    <a:alpha val="40000"/>
                  </a:schemeClr>
                </a:outerShdw>
              </a:effectLst>
            </a:endParaRPr>
          </a:p>
          <a:p>
            <a:pPr algn="ctr"/>
            <a:r>
              <a:rPr lang="es-ES" sz="5400" b="0" cap="none" spc="0" dirty="0">
                <a:ln w="0"/>
                <a:solidFill>
                  <a:schemeClr val="tx1"/>
                </a:solidFill>
                <a:effectLst>
                  <a:outerShdw blurRad="38100" dist="19050" dir="2700000" algn="tl" rotWithShape="0">
                    <a:schemeClr val="dk1">
                      <a:alpha val="40000"/>
                    </a:schemeClr>
                  </a:outerShdw>
                </a:effectLst>
                <a:hlinkClick r:id="rId2"/>
              </a:rPr>
              <a:t>https://github.com/eddiCastS/Compilador.git</a:t>
            </a:r>
            <a:endParaRPr lang="es-ES" sz="5400" b="0" cap="none" spc="0" dirty="0">
              <a:ln w="0"/>
              <a:solidFill>
                <a:schemeClr val="tx1"/>
              </a:solidFill>
              <a:effectLst>
                <a:outerShdw blurRad="38100" dist="19050" dir="2700000" algn="tl" rotWithShape="0">
                  <a:schemeClr val="dk1">
                    <a:alpha val="40000"/>
                  </a:schemeClr>
                </a:outerShdw>
              </a:effectLst>
            </a:endParaRPr>
          </a:p>
          <a:p>
            <a:pPr algn="ctr"/>
            <a:endParaRPr lang="es-E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956403348"/>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TotalTime>
  <Words>1023</Words>
  <Application>Microsoft Office PowerPoint</Application>
  <PresentationFormat>Panorámica</PresentationFormat>
  <Paragraphs>66</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5</cp:revision>
  <dcterms:created xsi:type="dcterms:W3CDTF">2013-01-27T09:14:16Z</dcterms:created>
  <dcterms:modified xsi:type="dcterms:W3CDTF">2026-10-03T16:04:52Z</dcterms:modified>
  <cp:category/>
</cp:coreProperties>
</file>